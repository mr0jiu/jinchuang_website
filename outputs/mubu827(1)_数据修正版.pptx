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3939b36ace44e4" /><Relationship Type="http://schemas.openxmlformats.org/officeDocument/2006/relationships/extended-properties" Target="/docProps/app.xml" Id="R7d6f832eab0b4b84" /><Relationship Type="http://schemas.openxmlformats.org/officeDocument/2006/relationships/officeDocument" Target="/ppt/presentation.xml" Id="Ra79cb12e13e64551" /></Relationships>
</file>

<file path=ppt/presentation.xml><?xml version="1.0" encoding="utf-8"?>
<p:presentation xmlns:p="http://schemas.openxmlformats.org/presentationml/2006/main">
  <p:sldMasterIdLst>
    <p:sldMasterId xmlns:r="http://schemas.openxmlformats.org/officeDocument/2006/relationships" id="2147483648" r:id="R8ce6a80f9d474ba8"/>
  </p:sldMasterIdLst>
  <p:notesMasterIdLst>
    <p:notesMasterId xmlns:r="http://schemas.openxmlformats.org/officeDocument/2006/relationships" r:id="R40e19257ee174a29"/>
  </p:notesMasterIdLst>
  <p:sldIdLst>
    <p:sldId xmlns:r="http://schemas.openxmlformats.org/officeDocument/2006/relationships" id="256" r:id="R85cc330f67834b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7514609723949cd" /><Relationship Type="http://schemas.openxmlformats.org/officeDocument/2006/relationships/slideMaster" Target="/ppt/slideMasters/slideMaster1.xml" Id="R8ce6a80f9d474ba8" /><Relationship Type="http://schemas.openxmlformats.org/officeDocument/2006/relationships/notesMaster" Target="/ppt/notesMasters/notesMaster1.xml" Id="R40e19257ee174a29" /><Relationship Type="http://schemas.openxmlformats.org/officeDocument/2006/relationships/presProps" Target="/ppt/presProps.xml" Id="R6e065fe340894f1f" /><Relationship Type="http://schemas.openxmlformats.org/officeDocument/2006/relationships/viewProps" Target="/ppt/viewProps.xml" Id="R74973aacc3b04a5f" /><Relationship Type="http://schemas.openxmlformats.org/officeDocument/2006/relationships/tableStyles" Target="/ppt/tableStyles.xml" Id="R5fa801988adc42c0" /><Relationship Type="http://schemas.openxmlformats.org/officeDocument/2006/relationships/slide" Target="/ppt/slides/slide1.xml" Id="R85cc330f67834b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9efdb6f9bc46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0a1fe3f85a45d3" /><Relationship Type="http://schemas.openxmlformats.org/officeDocument/2006/relationships/notesMaster" Target="/ppt/notesMasters/notesMaster1.xml" Id="R49d02adc948945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3f8786dbf74de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44ed55730b4d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80812a761242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ace67fee5249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e90cb2939ff49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54285feb234ac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423fa1d7a1846a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21d590269ab431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8c53fcabcee4cd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d9d9844a35f48b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19e779baf384a7c"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0236B15-3164-AC56-ABF2-A80AC1CB07BB}"/>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43A9E745-6ABE-204D-205B-CB1BE25B7A2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9C1E6412-8BCB-A396-78C5-BCE858ACF6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A284C3A-51BF-434A-BD37-9E8180C8B646}" type="datetimeFigureOut">
              <a:t>2026/8/27</a:t>
            </a:fld>
            <a:endParaRPr/>
          </a:p>
        </p:txBody>
      </p:sp>
      <p:sp>
        <p:nvSpPr>
          <p:cNvPr id="5" name="页脚占位符 4">
            <a:extLst xmlns:a="http://schemas.openxmlformats.org/drawingml/2006/main">
              <a:ext uri="{FF2B5EF4-FFF2-40B4-BE49-F238E27FC236}">
                <a16:creationId xmlns:a16="http://schemas.microsoft.com/office/drawing/2014/main" id="{2EB0BF90-A489-1FAB-4BA3-628C8A6171E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359A0863-F442-BE8F-4614-99782A7A821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FDF0DD-6304-4215-BABA-FD1A0EBC392D}" type="slidenum">
              <a:t>‹#›</a:t>
            </a:fld>
            <a:endParaR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A8F83D4-9656-91AF-0721-579CF4D31FE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2CD8E6C3-BFE6-6807-AE31-D195B5C3787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841377E0-260C-715D-1343-5778EF1AAF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A284C3A-51BF-434A-BD37-9E8180C8B646}" type="datetimeFigureOut">
              <a:t>2026/8/27</a:t>
            </a:fld>
            <a:endParaRPr/>
          </a:p>
        </p:txBody>
      </p:sp>
      <p:sp>
        <p:nvSpPr>
          <p:cNvPr id="5" name="页脚占位符 4">
            <a:extLst xmlns:a="http://schemas.openxmlformats.org/drawingml/2006/main">
              <a:ext uri="{FF2B5EF4-FFF2-40B4-BE49-F238E27FC236}">
                <a16:creationId xmlns:a16="http://schemas.microsoft.com/office/drawing/2014/main" id="{CB0FA3FA-5606-8248-71B2-D73004A4C5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5AAF444C-D880-5F57-3A0D-F8064638C0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FDF0DD-6304-4215-BABA-FD1A0EBC392D}" type="slidenum">
              <a:t>‹#›</a:t>
            </a:fld>
            <a:endParaR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3D3E83E-CC20-16F1-E62A-B8ECB710856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E557932D-3D6F-1ADB-B48D-B7471B81E4EB}"/>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06B7E104-3027-66E2-4730-AE4B07F087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A284C3A-51BF-434A-BD37-9E8180C8B646}" type="datetimeFigureOut">
              <a:t>2026/8/27</a:t>
            </a:fld>
            <a:endParaRPr/>
          </a:p>
        </p:txBody>
      </p:sp>
      <p:sp>
        <p:nvSpPr>
          <p:cNvPr id="5" name="页脚占位符 4">
            <a:extLst xmlns:a="http://schemas.openxmlformats.org/drawingml/2006/main">
              <a:ext uri="{FF2B5EF4-FFF2-40B4-BE49-F238E27FC236}">
                <a16:creationId xmlns:a16="http://schemas.microsoft.com/office/drawing/2014/main" id="{4D1EB47E-BCAF-EF8F-D8D9-0E0ED32973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E42A143D-5940-E17C-1BEC-F88878EE92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FDF0DD-6304-4215-BABA-FD1A0EBC392D}" type="slidenum">
              <a:t>‹#›</a:t>
            </a:fld>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CD1419C-F365-7B78-0336-FA60EFDBC9F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57C892B4-E0D2-35F5-5147-66E7E44418B8}"/>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内容占位符 3">
            <a:extLst xmlns:a="http://schemas.openxmlformats.org/drawingml/2006/main">
              <a:ext uri="{FF2B5EF4-FFF2-40B4-BE49-F238E27FC236}">
                <a16:creationId xmlns:a16="http://schemas.microsoft.com/office/drawing/2014/main" id="{919D7D61-2F14-1B04-29EF-3BA259D6C956}"/>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日期占位符 4">
            <a:extLst xmlns:a="http://schemas.openxmlformats.org/drawingml/2006/main">
              <a:ext uri="{FF2B5EF4-FFF2-40B4-BE49-F238E27FC236}">
                <a16:creationId xmlns:a16="http://schemas.microsoft.com/office/drawing/2014/main" id="{21C6A21A-0D09-C14E-9376-02294FF020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A284C3A-51BF-434A-BD37-9E8180C8B646}" type="datetimeFigureOut">
              <a:t>2026/8/27</a:t>
            </a:fld>
            <a:endParaRPr/>
          </a:p>
        </p:txBody>
      </p:sp>
      <p:sp>
        <p:nvSpPr>
          <p:cNvPr id="6" name="页脚占位符 5">
            <a:extLst xmlns:a="http://schemas.openxmlformats.org/drawingml/2006/main">
              <a:ext uri="{FF2B5EF4-FFF2-40B4-BE49-F238E27FC236}">
                <a16:creationId xmlns:a16="http://schemas.microsoft.com/office/drawing/2014/main" id="{B6534013-6C72-C10F-9707-5943C4E29D3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E7B013A7-4BCC-0044-DA34-BE38FEF993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FDF0DD-6304-4215-BABA-FD1A0EBC392D}" type="slidenum">
              <a:t>‹#›</a:t>
            </a:fld>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637D9F8-1A2C-30EC-C159-12B9A9240486}"/>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AC077BA4-5ACB-F2F8-43D7-06596F28AAB9}"/>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BC89321F-0920-8D48-D238-F012652686C4}"/>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文本占位符 4">
            <a:extLst xmlns:a="http://schemas.openxmlformats.org/drawingml/2006/main">
              <a:ext uri="{FF2B5EF4-FFF2-40B4-BE49-F238E27FC236}">
                <a16:creationId xmlns:a16="http://schemas.microsoft.com/office/drawing/2014/main" id="{F7C4F20E-D1B2-9774-CCDE-A6E003129AAF}"/>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5A1E8F43-BBBC-7A6B-207C-9EB48CEFFE0A}"/>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7" name="日期占位符 6">
            <a:extLst xmlns:a="http://schemas.openxmlformats.org/drawingml/2006/main">
              <a:ext uri="{FF2B5EF4-FFF2-40B4-BE49-F238E27FC236}">
                <a16:creationId xmlns:a16="http://schemas.microsoft.com/office/drawing/2014/main" id="{455903FC-035E-ACA8-6673-676B6E2854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A284C3A-51BF-434A-BD37-9E8180C8B646}" type="datetimeFigureOut">
              <a:t>2026/8/27</a:t>
            </a:fld>
            <a:endParaRPr/>
          </a:p>
        </p:txBody>
      </p:sp>
      <p:sp>
        <p:nvSpPr>
          <p:cNvPr id="8" name="页脚占位符 7">
            <a:extLst xmlns:a="http://schemas.openxmlformats.org/drawingml/2006/main">
              <a:ext uri="{FF2B5EF4-FFF2-40B4-BE49-F238E27FC236}">
                <a16:creationId xmlns:a16="http://schemas.microsoft.com/office/drawing/2014/main" id="{9E6904BA-38DD-E869-22DD-78D434653A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3C38D93A-A0A2-0109-D9AD-462A62B828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FDF0DD-6304-4215-BABA-FD1A0EBC392D}" type="slidenum">
              <a:t>‹#›</a:t>
            </a:fld>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66953DF-F33C-E11D-8D94-6AB29C04FB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9E5C3E5F-D3F1-3CBD-0077-526BC18B2B7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A284C3A-51BF-434A-BD37-9E8180C8B646}" type="datetimeFigureOut">
              <a:t>2026/8/27</a:t>
            </a:fld>
            <a:endParaRPr/>
          </a:p>
        </p:txBody>
      </p:sp>
      <p:sp>
        <p:nvSpPr>
          <p:cNvPr id="4" name="页脚占位符 3">
            <a:extLst xmlns:a="http://schemas.openxmlformats.org/drawingml/2006/main">
              <a:ext uri="{FF2B5EF4-FFF2-40B4-BE49-F238E27FC236}">
                <a16:creationId xmlns:a16="http://schemas.microsoft.com/office/drawing/2014/main" id="{3C5A59EA-3B9B-CC0F-49C9-55D09BB0E4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B3EFF454-022A-DC17-9DC8-AB297DADC5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FDF0DD-6304-4215-BABA-FD1A0EBC392D}"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E1689080-6218-73F9-4172-E37C91298C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A284C3A-51BF-434A-BD37-9E8180C8B646}" type="datetimeFigureOut">
              <a:t>2026/8/27</a:t>
            </a:fld>
            <a:endParaRPr/>
          </a:p>
        </p:txBody>
      </p:sp>
      <p:sp>
        <p:nvSpPr>
          <p:cNvPr id="3" name="页脚占位符 2">
            <a:extLst xmlns:a="http://schemas.openxmlformats.org/drawingml/2006/main">
              <a:ext uri="{FF2B5EF4-FFF2-40B4-BE49-F238E27FC236}">
                <a16:creationId xmlns:a16="http://schemas.microsoft.com/office/drawing/2014/main" id="{04694B37-C0FA-A175-9A69-5722FDF958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DED508BF-9F96-CF50-9CBF-ECE17E8D7DE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FDF0DD-6304-4215-BABA-FD1A0EBC392D}" type="slidenum">
              <a:t>‹#›</a:t>
            </a:fld>
            <a:endParaR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9E523D5-D574-DB32-E6CE-B114DBF54195}"/>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A8940D1E-05F1-3BA9-7C13-D0074794DEE8}"/>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文本占位符 3">
            <a:extLst xmlns:a="http://schemas.openxmlformats.org/drawingml/2006/main">
              <a:ext uri="{FF2B5EF4-FFF2-40B4-BE49-F238E27FC236}">
                <a16:creationId xmlns:a16="http://schemas.microsoft.com/office/drawing/2014/main" id="{A0FE49D2-B494-5C62-A8B9-B7349732CBED}"/>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FB19D8EE-15C8-AF3A-B765-75332F6E2D3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A284C3A-51BF-434A-BD37-9E8180C8B646}" type="datetimeFigureOut">
              <a:t>2026/8/27</a:t>
            </a:fld>
            <a:endParaRPr/>
          </a:p>
        </p:txBody>
      </p:sp>
      <p:sp>
        <p:nvSpPr>
          <p:cNvPr id="6" name="页脚占位符 5">
            <a:extLst xmlns:a="http://schemas.openxmlformats.org/drawingml/2006/main">
              <a:ext uri="{FF2B5EF4-FFF2-40B4-BE49-F238E27FC236}">
                <a16:creationId xmlns:a16="http://schemas.microsoft.com/office/drawing/2014/main" id="{7533D398-9D7D-8C10-B192-EF75404F22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D0C70362-4835-515B-D111-C96310D6B4D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FDF0DD-6304-4215-BABA-FD1A0EBC392D}" type="slidenum">
              <a:t>‹#›</a:t>
            </a:fld>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708F057-2A7A-26D1-F60A-BA33AB304EC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4F815EFD-81C7-1ED6-9AF3-C6B744E14B79}"/>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9970D22C-E61F-50E2-D2D6-9240A434FB5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BCE5AE43-B701-99AD-B195-2AD5AC7E30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A284C3A-51BF-434A-BD37-9E8180C8B646}" type="datetimeFigureOut">
              <a:t>2026/8/27</a:t>
            </a:fld>
            <a:endParaRPr/>
          </a:p>
        </p:txBody>
      </p:sp>
      <p:sp>
        <p:nvSpPr>
          <p:cNvPr id="6" name="页脚占位符 5">
            <a:extLst xmlns:a="http://schemas.openxmlformats.org/drawingml/2006/main">
              <a:ext uri="{FF2B5EF4-FFF2-40B4-BE49-F238E27FC236}">
                <a16:creationId xmlns:a16="http://schemas.microsoft.com/office/drawing/2014/main" id="{EE3A4951-BF66-5A2D-AD31-8DF21A46C7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B0CC1354-D856-8770-AA2B-3EFF3FA0DA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FDF0DD-6304-4215-BABA-FD1A0EBC392D}" type="slidenum">
              <a:t>‹#›</a:t>
            </a:fld>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44B96C5-133A-AD52-986A-96C9B5CD9D5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821539C1-02CC-BAF1-9E07-A4A8A02676F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CACE9E4F-17B9-74CF-5D95-2CF89CE667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A284C3A-51BF-434A-BD37-9E8180C8B646}" type="datetimeFigureOut">
              <a:t>2026/8/27</a:t>
            </a:fld>
            <a:endParaRPr/>
          </a:p>
        </p:txBody>
      </p:sp>
      <p:sp>
        <p:nvSpPr>
          <p:cNvPr id="5" name="页脚占位符 4">
            <a:extLst xmlns:a="http://schemas.openxmlformats.org/drawingml/2006/main">
              <a:ext uri="{FF2B5EF4-FFF2-40B4-BE49-F238E27FC236}">
                <a16:creationId xmlns:a16="http://schemas.microsoft.com/office/drawing/2014/main" id="{6A7ADD66-D0B8-CDA1-DE6C-53E01FBE1A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BC6FE110-2981-CFC8-3423-DADBEC4A8F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FDF0DD-6304-4215-BABA-FD1A0EBC392D}" type="slidenum">
              <a:t>‹#›</a:t>
            </a:fld>
            <a:endParaRPr/>
          </a:p>
        </p:txBody>
      </p:sp>
    </p:spTree>
  </p:cSld>
</p:sldLayout>
</file>

<file path=ppt/slideLayouts/slideLayout11.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A2985F6B-ED8E-AEB7-660C-45D5A059C0BD}"/>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7DA010C7-0B5C-2203-D39C-88158F9298EF}"/>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FDF12CC0-EC91-D324-0356-AF3BB3249E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A284C3A-51BF-434A-BD37-9E8180C8B646}" type="datetimeFigureOut">
              <a:t>2026/8/27</a:t>
            </a:fld>
            <a:endParaRPr/>
          </a:p>
        </p:txBody>
      </p:sp>
      <p:sp>
        <p:nvSpPr>
          <p:cNvPr id="5" name="页脚占位符 4">
            <a:extLst xmlns:a="http://schemas.openxmlformats.org/drawingml/2006/main">
              <a:ext uri="{FF2B5EF4-FFF2-40B4-BE49-F238E27FC236}">
                <a16:creationId xmlns:a16="http://schemas.microsoft.com/office/drawing/2014/main" id="{0ECF9251-04D9-2187-8A58-138189AF35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E3CFF813-F876-88C3-CDEE-89E46C149C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FDF0DD-6304-4215-BABA-FD1A0EBC392D}"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1fe1f3e838484c" /><Relationship Type="http://schemas.openxmlformats.org/officeDocument/2006/relationships/slideLayout" Target="/ppt/slideLayouts/slideLayout1.xml" Id="Re20f16e70d9f4a19" /><Relationship Type="http://schemas.openxmlformats.org/officeDocument/2006/relationships/slideLayout" Target="/ppt/slideLayouts/slideLayout2.xml" Id="R04ef46e9701b4066" /><Relationship Type="http://schemas.openxmlformats.org/officeDocument/2006/relationships/slideLayout" Target="/ppt/slideLayouts/slideLayout3.xml" Id="Ra2d2bd06a54147c5" /><Relationship Type="http://schemas.openxmlformats.org/officeDocument/2006/relationships/slideLayout" Target="/ppt/slideLayouts/slideLayout4.xml" Id="Ra212227ab15a47da" /><Relationship Type="http://schemas.openxmlformats.org/officeDocument/2006/relationships/slideLayout" Target="/ppt/slideLayouts/slideLayout5.xml" Id="R02aba3fe5c834b76" /><Relationship Type="http://schemas.openxmlformats.org/officeDocument/2006/relationships/slideLayout" Target="/ppt/slideLayouts/slideLayout6.xml" Id="R50be4399011b4560" /><Relationship Type="http://schemas.openxmlformats.org/officeDocument/2006/relationships/slideLayout" Target="/ppt/slideLayouts/slideLayout7.xml" Id="Rfd47f09959334a65" /><Relationship Type="http://schemas.openxmlformats.org/officeDocument/2006/relationships/slideLayout" Target="/ppt/slideLayouts/slideLayout8.xml" Id="R2121c2af027e4fbf" /><Relationship Type="http://schemas.openxmlformats.org/officeDocument/2006/relationships/slideLayout" Target="/ppt/slideLayouts/slideLayout9.xml" Id="R206001e6be44485a" /><Relationship Type="http://schemas.openxmlformats.org/officeDocument/2006/relationships/slideLayout" Target="/ppt/slideLayouts/slideLayout10.xml" Id="R577b80c7361147cd" /><Relationship Type="http://schemas.openxmlformats.org/officeDocument/2006/relationships/slideLayout" Target="/ppt/slideLayouts/slideLayout11.xml" Id="Rbc4659bda7ba468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F57A43C7-3B3C-B192-A538-0F69FB3D29E7}"/>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0970B9A4-3B9E-C6CC-5184-F60A4754C1A2}"/>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4D9B324B-2330-1A2B-C77A-F2907437BA50}"/>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CA284C3A-51BF-434A-BD37-9E8180C8B646}" type="datetimeFigureOut">
              <a:t>2026/8/27</a:t>
            </a:fld>
            <a:endParaRPr/>
          </a:p>
        </p:txBody>
      </p:sp>
      <p:sp>
        <p:nvSpPr>
          <p:cNvPr id="5" name="页脚占位符 4">
            <a:extLst xmlns:a="http://schemas.openxmlformats.org/drawingml/2006/main">
              <a:ext uri="{FF2B5EF4-FFF2-40B4-BE49-F238E27FC236}">
                <a16:creationId xmlns:a16="http://schemas.microsoft.com/office/drawing/2014/main" id="{5079F242-F6D5-1FCA-CE69-963364ABBD70}"/>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499AFFC6-210D-D8AA-07FA-320BDAFB12A3}"/>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F1FDF0DD-6304-4215-BABA-FD1A0EBC392D}"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0f16e70d9f4a19"/>
    <p:sldLayoutId xmlns:r="http://schemas.openxmlformats.org/officeDocument/2006/relationships" id="2147483650" r:id="R04ef46e9701b4066"/>
    <p:sldLayoutId xmlns:r="http://schemas.openxmlformats.org/officeDocument/2006/relationships" id="2147483651" r:id="Ra2d2bd06a54147c5"/>
    <p:sldLayoutId xmlns:r="http://schemas.openxmlformats.org/officeDocument/2006/relationships" id="2147483652" r:id="Ra212227ab15a47da"/>
    <p:sldLayoutId xmlns:r="http://schemas.openxmlformats.org/officeDocument/2006/relationships" id="2147483653" r:id="R02aba3fe5c834b76"/>
    <p:sldLayoutId xmlns:r="http://schemas.openxmlformats.org/officeDocument/2006/relationships" id="2147483654" r:id="R50be4399011b4560"/>
    <p:sldLayoutId xmlns:r="http://schemas.openxmlformats.org/officeDocument/2006/relationships" id="2147483655" r:id="Rfd47f09959334a65"/>
    <p:sldLayoutId xmlns:r="http://schemas.openxmlformats.org/officeDocument/2006/relationships" id="2147483656" r:id="R2121c2af027e4fbf"/>
    <p:sldLayoutId xmlns:r="http://schemas.openxmlformats.org/officeDocument/2006/relationships" id="2147483657" r:id="R206001e6be44485a"/>
    <p:sldLayoutId xmlns:r="http://schemas.openxmlformats.org/officeDocument/2006/relationships" id="2147483658" r:id="R577b80c7361147cd"/>
    <p:sldLayoutId xmlns:r="http://schemas.openxmlformats.org/officeDocument/2006/relationships" id="2147483659" r:id="Rbc4659bda7ba4687"/>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8757d9f4b71473c" /><Relationship Type="http://schemas.openxmlformats.org/officeDocument/2006/relationships/image" Target="/ppt/media/image.png" Id="Ra70b3cfa41414aee" /><Relationship Type="http://schemas.openxmlformats.org/officeDocument/2006/relationships/image" Target="/ppt/media/image2.png" Id="Rdac8781433b3485f" /><Relationship Type="http://schemas.openxmlformats.org/officeDocument/2006/relationships/image" Target="/ppt/media/image3.png" Id="R4aa0e20f57a34575" /><Relationship Type="http://schemas.openxmlformats.org/officeDocument/2006/relationships/image" Target="/ppt/media/image4.png" Id="Rbab21566c23c458a" /><Relationship Type="http://schemas.openxmlformats.org/officeDocument/2006/relationships/image" Target="/ppt/media/image5.png" Id="R46fedac5aec34e3d" /><Relationship Type="http://schemas.openxmlformats.org/officeDocument/2006/relationships/image" Target="/ppt/media/image6.png" Id="R98d5feae648f4f36" /><Relationship Type="http://schemas.openxmlformats.org/officeDocument/2006/relationships/image" Target="/ppt/media/image7.png" Id="R69c67da7a7194038" /><Relationship Type="http://schemas.openxmlformats.org/officeDocument/2006/relationships/image" Target="/ppt/media/image8.png" Id="R8906128a8c5141e4" /><Relationship Type="http://schemas.openxmlformats.org/officeDocument/2006/relationships/image" Target="/ppt/media/image9.png" Id="Rd11f031d2cbe4493" /><Relationship Type="http://schemas.openxmlformats.org/officeDocument/2006/relationships/image" Target="/ppt/media/image10.png" Id="R9509e019e3294f76" /><Relationship Type="http://schemas.openxmlformats.org/officeDocument/2006/relationships/notesSlide" Target="/ppt/notesSlides/notesSlide1.xml" Id="R12cdfc441985435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7">
            <a:extLst xmlns:a="http://schemas.openxmlformats.org/drawingml/2006/main">
              <a:ext uri="{FF2B5EF4-FFF2-40B4-BE49-F238E27FC236}">
                <a16:creationId xmlns:a16="http://schemas.microsoft.com/office/drawing/2014/main" id="{9EE418AF-5AEB-9C81-7C23-C6E5EAAECB38}"/>
              </a:ext>
            </a:extLst>
          </p:cNvPr>
          <p:cNvSpPr>
            <a:spLocks xmlns:a="http://schemas.openxmlformats.org/drawingml/2006/main" noGrp="1"/>
          </p:cNvSpPr>
          <p:nvPr/>
        </p:nvSpPr>
        <p:spPr>
          <a:xfrm xmlns:a="http://schemas.openxmlformats.org/drawingml/2006/main">
            <a:off x="270781" y="77120"/>
            <a:ext cx="1743076" cy="3670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a:lstStyle xmlns:a="http://schemas.openxmlformats.org/drawingml/2006/main">
            <a:lvl1pPr marL="0" indent="0" algn="l" defTabSz="457200">
              <a:spcBef>
                <a:spcPct val="20000"/>
              </a:spcBef>
              <a:spcAft>
                <a:spcPct val="0"/>
              </a:spcAft>
              <a:buFont typeface="Arial"/>
              <a:buNone/>
              <a:defRPr sz="1800" b="1" kern="1200">
                <a:solidFill>
                  <a:schemeClr val="tx2"/>
                </a:solidFill>
                <a:latin typeface="Times New Roman"/>
                <a:ea typeface="Times New Roman"/>
                <a:cs typeface="Times New Roman"/>
              </a:defRPr>
            </a:lvl1pPr>
            <a:lvl2pPr marL="742950" indent="-285750" algn="l" defTabSz="457200">
              <a:spcBef>
                <a:spcPct val="20000"/>
              </a:spcBef>
              <a:spcAft>
                <a:spcPct val="0"/>
              </a:spcAft>
              <a:buFont typeface="Arial"/>
              <a:buChar char="–"/>
              <a:defRPr sz="2800" kern="1200">
                <a:solidFill>
                  <a:schemeClr val="tx1"/>
                </a:solidFill>
                <a:latin typeface="Arial"/>
                <a:ea typeface="Arial"/>
                <a:cs typeface="Arial"/>
              </a:defRPr>
            </a:lvl2pPr>
            <a:lvl3pPr marL="1143000" indent="-228600" algn="l" defTabSz="457200">
              <a:spcBef>
                <a:spcPct val="20000"/>
              </a:spcBef>
              <a:spcAft>
                <a:spcPct val="0"/>
              </a:spcAft>
              <a:buFont typeface="Arial"/>
              <a:buChar char="•"/>
              <a:defRPr sz="2400" kern="1200">
                <a:solidFill>
                  <a:schemeClr val="tx1"/>
                </a:solidFill>
                <a:latin typeface="Arial"/>
                <a:ea typeface="Arial"/>
                <a:cs typeface="Arial"/>
              </a:defRPr>
            </a:lvl3pPr>
            <a:lvl4pPr marL="1600200" indent="-228600" algn="l" defTabSz="457200">
              <a:spcBef>
                <a:spcPct val="20000"/>
              </a:spcBef>
              <a:spcAft>
                <a:spcPct val="0"/>
              </a:spcAft>
              <a:buFont typeface="Arial"/>
              <a:buChar char="–"/>
              <a:defRPr sz="2000" kern="1200">
                <a:solidFill>
                  <a:schemeClr val="tx1"/>
                </a:solidFill>
                <a:latin typeface="Arial"/>
                <a:ea typeface="Arial"/>
                <a:cs typeface="Arial"/>
              </a:defRPr>
            </a:lvl4pPr>
            <a:lvl5pPr marL="2057400" indent="-228600" algn="l" defTabSz="457200">
              <a:spcBef>
                <a:spcPct val="20000"/>
              </a:spcBef>
              <a:spcAft>
                <a:spcPct val="0"/>
              </a:spcAft>
              <a:buFont typeface="Arial"/>
              <a:buChar char="»"/>
              <a:defRPr sz="2000" kern="1200">
                <a:solidFill>
                  <a:schemeClr val="tx1"/>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a:lstStyle>
          <a:p xmlns:a="http://schemas.openxmlformats.org/drawingml/2006/main">
            <a:pPr marL="0" marR="0" lvl="0" indent="0" algn="l" defTabSz="457200">
              <a:lnSpc>
                <a:spcPct val="100000"/>
              </a:lnSpc>
              <a:spcBef>
                <a:spcPct val="20000"/>
              </a:spcBef>
              <a:spcAft>
                <a:spcPct val="0"/>
              </a:spcAft>
              <a:buClrTx/>
              <a:buSzTx/>
              <a:buFont typeface="Arial"/>
              <a:buNone/>
            </a:pPr>
            <a:r>
              <a:rPr sz="1800" b="1" i="0" u="none" cap="none" spc="0">
                <a:ln>
                  <a:noFill/>
                </a:ln>
                <a:solidFill>
                  <a:srgbClr val="222222"/>
                </a:solidFill>
                <a:latin typeface="Times New Roman"/>
                <a:ea typeface="Times New Roman"/>
                <a:cs typeface="Times New Roman"/>
              </a:rPr>
              <a:t>揭榜挂帅</a:t>
            </a:r>
            <a:r>
              <a:rPr sz="1800" b="1" i="0" u="none" cap="none" spc="0">
                <a:ln>
                  <a:noFill/>
                </a:ln>
                <a:solidFill>
                  <a:srgbClr val="222222"/>
                </a:solidFill>
                <a:latin typeface="Times New Roman"/>
                <a:ea typeface="Times New Roman"/>
                <a:cs typeface="Times New Roman"/>
              </a:rPr>
              <a:t>-23</a:t>
            </a:r>
            <a:endParaRPr sz="1800" b="1" i="0" u="none" kern="1200" cap="none" spc="0" baseline="0">
              <a:ln>
                <a:noFill/>
              </a:ln>
              <a:solidFill>
                <a:srgbClr val="222222"/>
              </a:solidFill>
              <a:latin typeface="Times New Roman"/>
              <a:ea typeface="Times New Roman"/>
              <a:cs typeface="Times New Roman"/>
            </a:endParaRPr>
          </a:p>
        </p:txBody>
      </p:sp>
      <p:sp>
        <p:nvSpPr>
          <p:cNvPr id="8" name="文本占位符 2">
            <a:extLst xmlns:a="http://schemas.openxmlformats.org/drawingml/2006/main">
              <a:ext uri="{FF2B5EF4-FFF2-40B4-BE49-F238E27FC236}">
                <a16:creationId xmlns:a16="http://schemas.microsoft.com/office/drawing/2014/main" id="{FC2F6BCF-0473-41F3-9186-6A7282C980BB}"/>
              </a:ext>
            </a:extLst>
          </p:cNvPr>
          <p:cNvSpPr>
            <a:spLocks xmlns:a="http://schemas.openxmlformats.org/drawingml/2006/main" noGrp="1"/>
          </p:cNvSpPr>
          <p:nvPr/>
        </p:nvSpPr>
        <p:spPr>
          <a:xfrm xmlns:a="http://schemas.openxmlformats.org/drawingml/2006/main">
            <a:off x="9354066" y="118327"/>
            <a:ext cx="2236572" cy="3670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a:lstStyle xmlns:a="http://schemas.openxmlformats.org/drawingml/2006/main">
            <a:lvl1pPr marL="0" indent="0" algn="l" defTabSz="457200">
              <a:spcBef>
                <a:spcPct val="20000"/>
              </a:spcBef>
              <a:spcAft>
                <a:spcPct val="0"/>
              </a:spcAft>
              <a:buFont typeface="Arial"/>
              <a:buNone/>
              <a:defRPr sz="900" kern="1200">
                <a:solidFill>
                  <a:schemeClr val="tx2"/>
                </a:solidFill>
                <a:latin typeface="Times New Roman"/>
                <a:ea typeface="Times New Roman"/>
                <a:cs typeface="Times New Roman"/>
              </a:defRPr>
            </a:lvl1pPr>
            <a:lvl2pPr marL="742950" indent="-285750" algn="l" defTabSz="457200">
              <a:spcBef>
                <a:spcPct val="20000"/>
              </a:spcBef>
              <a:spcAft>
                <a:spcPct val="0"/>
              </a:spcAft>
              <a:buFont typeface="Arial"/>
              <a:buChar char="–"/>
              <a:defRPr sz="2800" kern="1200">
                <a:solidFill>
                  <a:schemeClr val="tx1"/>
                </a:solidFill>
                <a:latin typeface="Arial"/>
                <a:ea typeface="Arial"/>
                <a:cs typeface="Arial"/>
              </a:defRPr>
            </a:lvl2pPr>
            <a:lvl3pPr marL="1143000" indent="-228600" algn="l" defTabSz="457200">
              <a:spcBef>
                <a:spcPct val="20000"/>
              </a:spcBef>
              <a:spcAft>
                <a:spcPct val="0"/>
              </a:spcAft>
              <a:buFont typeface="Arial"/>
              <a:buChar char="•"/>
              <a:defRPr sz="2400" kern="1200">
                <a:solidFill>
                  <a:schemeClr val="tx1"/>
                </a:solidFill>
                <a:latin typeface="Arial"/>
                <a:ea typeface="Arial"/>
                <a:cs typeface="Arial"/>
              </a:defRPr>
            </a:lvl3pPr>
            <a:lvl4pPr marL="1600200" indent="-228600" algn="l" defTabSz="457200">
              <a:spcBef>
                <a:spcPct val="20000"/>
              </a:spcBef>
              <a:spcAft>
                <a:spcPct val="0"/>
              </a:spcAft>
              <a:buFont typeface="Arial"/>
              <a:buChar char="–"/>
              <a:defRPr sz="2000" kern="1200">
                <a:solidFill>
                  <a:schemeClr val="tx1"/>
                </a:solidFill>
                <a:latin typeface="Arial"/>
                <a:ea typeface="Arial"/>
                <a:cs typeface="Arial"/>
              </a:defRPr>
            </a:lvl4pPr>
            <a:lvl5pPr marL="2057400" indent="-228600" algn="l" defTabSz="457200">
              <a:spcBef>
                <a:spcPct val="20000"/>
              </a:spcBef>
              <a:spcAft>
                <a:spcPct val="0"/>
              </a:spcAft>
              <a:buFont typeface="Arial"/>
              <a:buChar char="»"/>
              <a:defRPr sz="2000" kern="1200">
                <a:solidFill>
                  <a:schemeClr val="tx1"/>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a:lstStyle>
          <a:p xmlns:a="http://schemas.openxmlformats.org/drawingml/2006/main">
            <a:pPr marL="0" marR="0" lvl="0" indent="0" algn="l" defTabSz="457200">
              <a:lnSpc>
                <a:spcPct val="100000"/>
              </a:lnSpc>
              <a:spcBef>
                <a:spcPct val="20000"/>
              </a:spcBef>
              <a:spcAft>
                <a:spcPct val="0"/>
              </a:spcAft>
              <a:buClrTx/>
              <a:buSzTx/>
              <a:buFont typeface="Arial"/>
              <a:buNone/>
            </a:pPr>
            <a:r>
              <a:rPr sz="1200" b="0" i="0" u="none" cap="none" spc="0">
                <a:ln>
                  <a:noFill/>
                </a:ln>
                <a:solidFill>
                  <a:srgbClr val="222222"/>
                </a:solidFill>
                <a:latin typeface="Times New Roman"/>
                <a:ea typeface="Times New Roman"/>
                <a:cs typeface="Times New Roman"/>
              </a:rPr>
              <a:t>团队名称：</a:t>
            </a:r>
            <a:r>
              <a:rPr sz="1600" b="0" i="0" u="none" cap="none" spc="0">
                <a:ln>
                  <a:noFill/>
                </a:ln>
                <a:solidFill>
                  <a:srgbClr val="222222"/>
                </a:solidFill>
                <a:latin typeface="Times New Roman"/>
                <a:ea typeface="Times New Roman"/>
                <a:cs typeface="Times New Roman"/>
              </a:rPr>
              <a:t>千影一鉴团队</a:t>
            </a:r>
          </a:p>
        </p:txBody>
      </p:sp>
      <p:sp>
        <p:nvSpPr>
          <p:cNvPr id="10" name="矩形 9">
            <a:extLst xmlns:a="http://schemas.openxmlformats.org/drawingml/2006/main">
              <a:ext uri="{FF2B5EF4-FFF2-40B4-BE49-F238E27FC236}">
                <a16:creationId xmlns:a16="http://schemas.microsoft.com/office/drawing/2014/main" id="{3169AE75-C56E-E287-DB67-67A23A6727C1}"/>
              </a:ext>
            </a:extLst>
          </p:cNvPr>
          <p:cNvSpPr>
            <a:spLocks xmlns:a="http://schemas.openxmlformats.org/drawingml/2006/main" noGrp="1"/>
          </p:cNvSpPr>
          <p:nvPr/>
        </p:nvSpPr>
        <p:spPr>
          <a:xfrm xmlns:a="http://schemas.openxmlformats.org/drawingml/2006/main" rot="0" flipH="0" flipV="0">
            <a:off x="118664" y="6461475"/>
            <a:ext cx="4791832" cy="343348"/>
          </a:xfrm>
          <a:prstGeom xmlns:a="http://schemas.openxmlformats.org/drawingml/2006/main" prst="rect">
            <a:avLst/>
          </a:prstGeom>
          <a:solidFill xmlns:a="http://schemas.openxmlformats.org/drawingml/2006/main">
            <a:srgbClr val="E8F0E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等线"/>
              <a:ea typeface="等线"/>
              <a:cs typeface="等线"/>
            </a:endParaRPr>
          </a:p>
        </p:txBody>
      </p:sp>
      <p:pic>
        <p:nvPicPr>
          <p:cNvPr id="261" name="图片 11"/>
          <p:cNvPicPr>
            <a:picLocks xmlns:a="http://schemas.openxmlformats.org/drawingml/2006/main" noChangeAspect="1"/>
          </p:cNvPicPr>
          <p:nvPr/>
        </p:nvPicPr>
        <p:blipFill>
          <a:blip xmlns:r="http://schemas.openxmlformats.org/officeDocument/2006/relationships" xmlns:a="http://schemas.openxmlformats.org/drawingml/2006/main" r:embed="Ra70b3cfa41414aee"/>
          <a:stretch xmlns:a="http://schemas.openxmlformats.org/drawingml/2006/main">
            <a:fillRect l="0" t="0" r="0" b="0"/>
          </a:stretch>
        </p:blipFill>
        <p:spPr>
          <a:xfrm xmlns:a="http://schemas.openxmlformats.org/drawingml/2006/main" rot="0" flipH="0" flipV="0">
            <a:off x="126059" y="6472981"/>
            <a:ext cx="202535" cy="251839"/>
          </a:xfrm>
          <a:prstGeom xmlns:a="http://schemas.openxmlformats.org/drawingml/2006/main" prst="rect">
            <a:avLst/>
          </a:prstGeom>
        </p:spPr>
      </p:pic>
      <p:sp>
        <p:nvSpPr>
          <p:cNvPr id="11" name="文本框 10">
            <a:extLst xmlns:a="http://schemas.openxmlformats.org/drawingml/2006/main">
              <a:ext uri="{FF2B5EF4-FFF2-40B4-BE49-F238E27FC236}">
                <a16:creationId xmlns:a16="http://schemas.microsoft.com/office/drawing/2014/main" id="{B08B43DD-CF83-C83F-A8D3-4EF145E5D5EC}"/>
              </a:ext>
            </a:extLst>
          </p:cNvPr>
          <p:cNvSpPr>
            <a:spLocks xmlns:a="http://schemas.openxmlformats.org/drawingml/2006/main" noGrp="1"/>
          </p:cNvSpPr>
          <p:nvPr/>
        </p:nvSpPr>
        <p:spPr>
          <a:xfrm xmlns:a="http://schemas.openxmlformats.org/drawingml/2006/main">
            <a:off x="257624" y="6426581"/>
            <a:ext cx="1435445"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400" b="1" i="0" u="none" cap="none" spc="0">
                <a:ln>
                  <a:noFill/>
                </a:ln>
                <a:solidFill>
                  <a:srgbClr val="C00000"/>
                </a:solidFill>
                <a:latin typeface="黑体"/>
                <a:ea typeface="黑体"/>
                <a:cs typeface="黑体"/>
              </a:rPr>
              <a:t>项目原创性声明</a:t>
            </a:r>
          </a:p>
        </p:txBody>
      </p:sp>
      <p:sp>
        <p:nvSpPr>
          <p:cNvPr id="14" name="文本框 13">
            <a:extLst xmlns:a="http://schemas.openxmlformats.org/drawingml/2006/main">
              <a:ext uri="{FF2B5EF4-FFF2-40B4-BE49-F238E27FC236}">
                <a16:creationId xmlns:a16="http://schemas.microsoft.com/office/drawing/2014/main" id="{54621A1C-A102-1C04-0C46-363B5F50F867}"/>
              </a:ext>
            </a:extLst>
          </p:cNvPr>
          <p:cNvSpPr>
            <a:spLocks xmlns:a="http://schemas.openxmlformats.org/drawingml/2006/main" noGrp="1"/>
          </p:cNvSpPr>
          <p:nvPr/>
        </p:nvSpPr>
        <p:spPr>
          <a:xfrm xmlns:a="http://schemas.openxmlformats.org/drawingml/2006/main">
            <a:off x="1517215" y="6430931"/>
            <a:ext cx="3393281" cy="4154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700" b="0" i="0" u="none" cap="none" spc="0">
                <a:ln>
                  <a:noFill/>
                </a:ln>
                <a:solidFill>
                  <a:prstClr val="black"/>
                </a:solidFill>
                <a:latin typeface="黑体"/>
                <a:ea typeface="黑体"/>
                <a:cs typeface="黑体"/>
              </a:rPr>
              <a:t>本项目是在</a:t>
            </a:r>
            <a:r>
              <a:rPr sz="700" b="1" i="0" u="none" cap="none" spc="0">
                <a:ln>
                  <a:noFill/>
                </a:ln>
                <a:solidFill>
                  <a:prstClr val="black"/>
                </a:solidFill>
                <a:latin typeface="黑体"/>
                <a:ea typeface="黑体"/>
                <a:cs typeface="黑体"/>
              </a:rPr>
              <a:t>田穗、潘建江</a:t>
            </a:r>
            <a:r>
              <a:rPr sz="700" b="0" i="0" u="none" cap="none" spc="0">
                <a:ln>
                  <a:noFill/>
                </a:ln>
                <a:solidFill>
                  <a:prstClr val="black"/>
                </a:solidFill>
                <a:latin typeface="黑体"/>
                <a:ea typeface="黑体"/>
                <a:cs typeface="黑体"/>
              </a:rPr>
              <a:t>指导下，由团队成员独立研究所取得的真实成果。除参赛作品中已注明引用的内容外，不涉及任何其他个人或集体已经发表或撰写的作品成果，不存在抄袭他人作品等侵犯任何第三方享有的知识产权或其他权利的违法行为。</a:t>
            </a:r>
            <a:endParaRPr sz="700" b="0" i="0" u="none" kern="1200" cap="none" spc="0" baseline="0">
              <a:ln>
                <a:noFill/>
              </a:ln>
              <a:solidFill>
                <a:prstClr val="black"/>
              </a:solidFill>
              <a:latin typeface="黑体"/>
              <a:ea typeface="黑体"/>
              <a:cs typeface="黑体"/>
            </a:endParaRPr>
          </a:p>
        </p:txBody>
      </p:sp>
      <p:sp>
        <p:nvSpPr>
          <p:cNvPr id="16" name="矩形 15">
            <a:extLst xmlns:a="http://schemas.openxmlformats.org/drawingml/2006/main">
              <a:ext uri="{FF2B5EF4-FFF2-40B4-BE49-F238E27FC236}">
                <a16:creationId xmlns:a16="http://schemas.microsoft.com/office/drawing/2014/main" id="{57F2A748-9F9E-8855-7235-80AB15FBEE34}"/>
              </a:ext>
            </a:extLst>
          </p:cNvPr>
          <p:cNvSpPr>
            <a:spLocks xmlns:a="http://schemas.openxmlformats.org/drawingml/2006/main" noGrp="1"/>
          </p:cNvSpPr>
          <p:nvPr/>
        </p:nvSpPr>
        <p:spPr>
          <a:xfrm xmlns:a="http://schemas.openxmlformats.org/drawingml/2006/main">
            <a:off x="118664" y="4244681"/>
            <a:ext cx="4791832" cy="1050640"/>
          </a:xfrm>
          <a:prstGeom xmlns:a="http://schemas.openxmlformats.org/drawingml/2006/main" prst="rect">
            <a:avLst/>
          </a:prstGeom>
          <a:solidFill xmlns:a="http://schemas.openxmlformats.org/drawingml/2006/main">
            <a:srgbClr val="F2F2F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等线"/>
              <a:ea typeface="等线"/>
              <a:cs typeface="等线"/>
            </a:endParaRPr>
          </a:p>
        </p:txBody>
      </p:sp>
      <p:sp>
        <p:nvSpPr>
          <p:cNvPr id="20" name="文本框 19">
            <a:extLst xmlns:a="http://schemas.openxmlformats.org/drawingml/2006/main">
              <a:ext uri="{FF2B5EF4-FFF2-40B4-BE49-F238E27FC236}">
                <a16:creationId xmlns:a16="http://schemas.microsoft.com/office/drawing/2014/main" id="{E7F5692E-9ACC-9C07-473A-C4A0791240D5}"/>
              </a:ext>
            </a:extLst>
          </p:cNvPr>
          <p:cNvSpPr>
            <a:spLocks xmlns:a="http://schemas.openxmlformats.org/drawingml/2006/main" noGrp="1"/>
          </p:cNvSpPr>
          <p:nvPr/>
        </p:nvSpPr>
        <p:spPr>
          <a:xfrm xmlns:a="http://schemas.openxmlformats.org/drawingml/2006/main">
            <a:off x="173253" y="4328092"/>
            <a:ext cx="215444" cy="1048364"/>
          </a:xfrm>
          <a:prstGeom xmlns:a="http://schemas.openxmlformats.org/drawingml/2006/main" prst="rect">
            <a:avLst/>
          </a:prstGeom>
          <a:noFill xmlns:a="http://schemas.openxmlformats.org/drawingml/2006/main"/>
        </p:spPr>
        <p:txBody>
          <a:bodyPr xmlns:a="http://schemas.openxmlformats.org/drawingml/2006/main" vert="eaVert" wrap="square" lIns="0" tIns="0" rIns="0" bIns="0">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400" b="1" i="0" u="none" cap="none" spc="0">
                <a:ln>
                  <a:noFill/>
                </a:ln>
                <a:solidFill>
                  <a:prstClr val="black"/>
                </a:solidFill>
                <a:latin typeface="黑体"/>
                <a:ea typeface="黑体"/>
                <a:cs typeface="黑体"/>
              </a:rPr>
              <a:t>落地可行性</a:t>
            </a:r>
          </a:p>
        </p:txBody>
      </p:sp>
      <p:sp>
        <p:nvSpPr>
          <p:cNvPr id="27" name="文本占位符 15">
            <a:extLst xmlns:a="http://schemas.openxmlformats.org/drawingml/2006/main">
              <a:ext uri="{FF2B5EF4-FFF2-40B4-BE49-F238E27FC236}">
                <a16:creationId xmlns:a16="http://schemas.microsoft.com/office/drawing/2014/main" id="{2811259D-CF40-60DE-E627-A5ACDA25B31C}"/>
              </a:ext>
            </a:extLst>
          </p:cNvPr>
          <p:cNvSpPr>
            <a:spLocks xmlns:a="http://schemas.openxmlformats.org/drawingml/2006/main" noGrp="1"/>
          </p:cNvSpPr>
          <p:nvPr/>
        </p:nvSpPr>
        <p:spPr>
          <a:xfrm xmlns:a="http://schemas.openxmlformats.org/drawingml/2006/main">
            <a:off x="340054" y="4279987"/>
            <a:ext cx="4499956" cy="9814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a:lstStyle xmlns:a="http://schemas.openxmlformats.org/drawingml/2006/main">
            <a:lvl1pPr marL="0" indent="0" algn="l" defTabSz="457200">
              <a:spcBef>
                <a:spcPct val="20000"/>
              </a:spcBef>
              <a:spcAft>
                <a:spcPct val="0"/>
              </a:spcAft>
              <a:buFont typeface="Arial"/>
              <a:buNone/>
              <a:defRPr sz="900" kern="1200">
                <a:solidFill>
                  <a:schemeClr val="tx1"/>
                </a:solidFill>
                <a:latin typeface="Times New Roman"/>
                <a:ea typeface="Times New Roman"/>
                <a:cs typeface="Times New Roman"/>
              </a:defRPr>
            </a:lvl1pPr>
            <a:lvl2pPr marL="742950" indent="-285750" algn="l" defTabSz="457200">
              <a:spcBef>
                <a:spcPct val="20000"/>
              </a:spcBef>
              <a:spcAft>
                <a:spcPct val="0"/>
              </a:spcAft>
              <a:buFont typeface="Arial"/>
              <a:buChar char="–"/>
              <a:defRPr sz="2800" kern="1200">
                <a:solidFill>
                  <a:schemeClr val="tx1"/>
                </a:solidFill>
                <a:latin typeface="Arial"/>
                <a:ea typeface="Arial"/>
                <a:cs typeface="Arial"/>
              </a:defRPr>
            </a:lvl2pPr>
            <a:lvl3pPr marL="1143000" indent="-228600" algn="l" defTabSz="457200">
              <a:spcBef>
                <a:spcPct val="20000"/>
              </a:spcBef>
              <a:spcAft>
                <a:spcPct val="0"/>
              </a:spcAft>
              <a:buFont typeface="Arial"/>
              <a:buChar char="•"/>
              <a:defRPr sz="2400" kern="1200">
                <a:solidFill>
                  <a:schemeClr val="tx1"/>
                </a:solidFill>
                <a:latin typeface="Arial"/>
                <a:ea typeface="Arial"/>
                <a:cs typeface="Arial"/>
              </a:defRPr>
            </a:lvl3pPr>
            <a:lvl4pPr marL="1600200" indent="-228600" algn="l" defTabSz="457200">
              <a:spcBef>
                <a:spcPct val="20000"/>
              </a:spcBef>
              <a:spcAft>
                <a:spcPct val="0"/>
              </a:spcAft>
              <a:buFont typeface="Arial"/>
              <a:buChar char="–"/>
              <a:defRPr sz="2000" kern="1200">
                <a:solidFill>
                  <a:schemeClr val="tx1"/>
                </a:solidFill>
                <a:latin typeface="Arial"/>
                <a:ea typeface="Arial"/>
                <a:cs typeface="Arial"/>
              </a:defRPr>
            </a:lvl4pPr>
            <a:lvl5pPr marL="2057400" indent="-228600" algn="l" defTabSz="457200">
              <a:spcBef>
                <a:spcPct val="20000"/>
              </a:spcBef>
              <a:spcAft>
                <a:spcPct val="0"/>
              </a:spcAft>
              <a:buFont typeface="Arial"/>
              <a:buChar char="»"/>
              <a:defRPr sz="2000" kern="1200">
                <a:solidFill>
                  <a:schemeClr val="tx1"/>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a:lstStyle>
          <a:p xmlns:a="http://schemas.openxmlformats.org/drawingml/2006/main">
            <a:pPr marL="0" marR="0" lvl="0" indent="0" algn="just" defTabSz="457200">
              <a:lnSpc>
                <a:spcPct val="100000"/>
              </a:lnSpc>
              <a:spcBef>
                <a:spcPct val="20000"/>
              </a:spcBef>
              <a:spcAft>
                <a:spcPct val="0"/>
              </a:spcAft>
              <a:buClrTx/>
              <a:buSzTx/>
              <a:buFont typeface="Arial"/>
              <a:buNone/>
            </a:pPr>
            <a:r>
              <a:rPr sz="800" b="1" i="0" u="none" cap="none" spc="0">
                <a:ln>
                  <a:noFill/>
                </a:ln>
                <a:solidFill>
                  <a:srgbClr val="002060"/>
                </a:solidFill>
                <a:latin typeface="黑体"/>
                <a:ea typeface="黑体"/>
                <a:cs typeface="黑体"/>
              </a:rPr>
              <a:t>1.</a:t>
            </a:r>
            <a:r>
              <a:rPr sz="800" b="1" i="0" u="none" cap="none" spc="0">
                <a:ln>
                  <a:noFill/>
                </a:ln>
                <a:solidFill>
                  <a:srgbClr val="002060"/>
                </a:solidFill>
                <a:latin typeface="黑体"/>
                <a:ea typeface="黑体"/>
                <a:cs typeface="黑体"/>
              </a:rPr>
              <a:t>技术可行：</a:t>
            </a:r>
            <a:r>
              <a:rPr sz="800" b="0" i="0" u="none" cap="none" spc="0">
                <a:ln>
                  <a:noFill/>
                </a:ln>
                <a:solidFill>
                  <a:prstClr val="black"/>
                </a:solidFill>
                <a:latin typeface="黑体"/>
                <a:ea typeface="黑体"/>
                <a:cs typeface="黑体"/>
              </a:rPr>
              <a:t>采用SigLIP2、FAISS、HistGradientBoosting等成熟技术，通过模块化设计实现影像理解、候选召回、相似判别和风险分类的分层处理。各模块独立解耦，</a:t>
            </a:r>
            <a:r>
              <a:rPr sz="800" b="0" i="0" u="none" cap="none" spc="0">
                <a:ln>
                  <a:noFill/>
                </a:ln>
                <a:solidFill>
                  <a:prstClr val="black"/>
                </a:solidFill>
                <a:latin typeface="黑体"/>
                <a:ea typeface="黑体"/>
                <a:cs typeface="黑体"/>
              </a:rPr>
              <a:t>可根据不同信贷产品和影像场景灵活调整，具备较强的迁移能力与复用价值。</a:t>
            </a:r>
          </a:p>
          <a:p xmlns:a="http://schemas.openxmlformats.org/drawingml/2006/main">
            <a:pPr marL="0" marR="0" lvl="0" indent="0" algn="just" defTabSz="457200">
              <a:lnSpc>
                <a:spcPct val="100000"/>
              </a:lnSpc>
              <a:spcBef>
                <a:spcPct val="20000"/>
              </a:spcBef>
              <a:spcAft>
                <a:spcPct val="0"/>
              </a:spcAft>
              <a:buClrTx/>
              <a:buSzTx/>
              <a:buFont typeface="Arial"/>
              <a:buNone/>
            </a:pPr>
            <a:r>
              <a:rPr sz="800" b="1" i="0" u="none" cap="none" spc="0">
                <a:ln>
                  <a:noFill/>
                </a:ln>
                <a:solidFill>
                  <a:srgbClr val="002060"/>
                </a:solidFill>
                <a:latin typeface="黑体"/>
                <a:ea typeface="黑体"/>
                <a:cs typeface="黑体"/>
              </a:rPr>
              <a:t>2.</a:t>
            </a:r>
            <a:r>
              <a:rPr sz="800" b="1" i="0" u="none" cap="none" spc="0">
                <a:ln>
                  <a:noFill/>
                </a:ln>
                <a:solidFill>
                  <a:srgbClr val="002060"/>
                </a:solidFill>
                <a:latin typeface="黑体"/>
                <a:ea typeface="黑体"/>
                <a:cs typeface="黑体"/>
              </a:rPr>
              <a:t>业务</a:t>
            </a:r>
            <a:r>
              <a:rPr sz="800" b="1" i="0" u="none" cap="none" spc="0">
                <a:ln>
                  <a:noFill/>
                </a:ln>
                <a:solidFill>
                  <a:srgbClr val="002060"/>
                </a:solidFill>
                <a:latin typeface="黑体"/>
                <a:ea typeface="黑体"/>
                <a:cs typeface="黑体"/>
              </a:rPr>
              <a:t>可行：</a:t>
            </a:r>
            <a:r>
              <a:rPr sz="800" b="0" i="0" u="none" cap="none" spc="0">
                <a:ln>
                  <a:noFill/>
                </a:ln>
                <a:solidFill>
                  <a:prstClr val="black"/>
                </a:solidFill>
                <a:latin typeface="黑体"/>
                <a:ea typeface="黑体"/>
                <a:cs typeface="黑体"/>
              </a:rPr>
              <a:t>围绕银行信贷影像审核真实痛点设计，</a:t>
            </a:r>
            <a:r>
              <a:rPr sz="800" b="0" i="0" u="none" cap="none" spc="0">
                <a:ln>
                  <a:noFill/>
                </a:ln>
                <a:solidFill>
                  <a:prstClr val="black"/>
                </a:solidFill>
                <a:latin typeface="黑体"/>
                <a:ea typeface="黑体"/>
                <a:cs typeface="黑体"/>
              </a:rPr>
              <a:t>嵌入现有信贷审核流程，通过“自动筛查+人工复核”替代人工全量排查，在保障业务合规性的基础上降低审核成本，提升风险识别效率</a:t>
            </a:r>
            <a:r>
              <a:rPr sz="800" b="0" i="0" u="none" cap="none" spc="0">
                <a:ln>
                  <a:noFill/>
                </a:ln>
                <a:solidFill>
                  <a:prstClr val="black"/>
                </a:solidFill>
                <a:latin typeface="黑体"/>
                <a:ea typeface="黑体"/>
                <a:cs typeface="黑体"/>
              </a:rPr>
              <a:t>。</a:t>
            </a:r>
            <a:endParaRPr sz="800" b="1" i="0" u="none" kern="1200" cap="none" spc="0" baseline="0">
              <a:ln>
                <a:noFill/>
              </a:ln>
              <a:solidFill>
                <a:prstClr val="black"/>
              </a:solidFill>
              <a:latin typeface="黑体"/>
              <a:ea typeface="黑体"/>
              <a:cs typeface="黑体"/>
            </a:endParaRPr>
          </a:p>
          <a:p xmlns:a="http://schemas.openxmlformats.org/drawingml/2006/main">
            <a:pPr marL="0" marR="0" lvl="0" indent="0" algn="just" defTabSz="457200">
              <a:lnSpc>
                <a:spcPct val="100000"/>
              </a:lnSpc>
              <a:spcBef>
                <a:spcPct val="20000"/>
              </a:spcBef>
              <a:spcAft>
                <a:spcPct val="0"/>
              </a:spcAft>
              <a:buClrTx/>
              <a:buSzTx/>
              <a:buFont typeface="Arial"/>
              <a:buNone/>
            </a:pPr>
            <a:r>
              <a:rPr sz="800" b="1" i="0" u="none" cap="none" spc="0">
                <a:ln>
                  <a:noFill/>
                </a:ln>
                <a:solidFill>
                  <a:srgbClr val="002060"/>
                </a:solidFill>
                <a:latin typeface="黑体"/>
                <a:ea typeface="黑体"/>
                <a:cs typeface="黑体"/>
              </a:rPr>
              <a:t>3.</a:t>
            </a:r>
            <a:r>
              <a:rPr sz="800" b="1" i="0" u="none" cap="none" spc="0">
                <a:ln>
                  <a:noFill/>
                </a:ln>
                <a:solidFill>
                  <a:srgbClr val="002060"/>
                </a:solidFill>
                <a:latin typeface="黑体"/>
                <a:ea typeface="黑体"/>
                <a:cs typeface="黑体"/>
              </a:rPr>
              <a:t>部署</a:t>
            </a:r>
            <a:r>
              <a:rPr sz="800" b="1" i="0" u="none" cap="none" spc="0">
                <a:ln>
                  <a:noFill/>
                </a:ln>
                <a:solidFill>
                  <a:srgbClr val="002060"/>
                </a:solidFill>
                <a:latin typeface="黑体"/>
                <a:ea typeface="黑体"/>
                <a:cs typeface="黑体"/>
              </a:rPr>
              <a:t>可行：</a:t>
            </a:r>
            <a:r>
              <a:rPr sz="800" b="0" i="0" u="none" cap="none" spc="0">
                <a:ln>
                  <a:noFill/>
                </a:ln>
                <a:solidFill>
                  <a:prstClr val="black"/>
                </a:solidFill>
                <a:latin typeface="黑体"/>
                <a:ea typeface="黑体"/>
                <a:cs typeface="黑体"/>
              </a:rPr>
              <a:t>已完成网页平台开发，实现影像上传、智能检测、风险展示等</a:t>
            </a:r>
            <a:r>
              <a:rPr sz="800" b="0" i="0" u="none" cap="none" spc="0">
                <a:ln>
                  <a:noFill/>
                </a:ln>
                <a:solidFill>
                  <a:prstClr val="black"/>
                </a:solidFill>
                <a:latin typeface="黑体"/>
                <a:ea typeface="黑体"/>
                <a:cs typeface="黑体"/>
              </a:rPr>
              <a:t>完整</a:t>
            </a:r>
            <a:r>
              <a:rPr sz="800" b="0" i="0" u="none" cap="none" spc="0">
                <a:ln>
                  <a:noFill/>
                </a:ln>
                <a:solidFill>
                  <a:prstClr val="black"/>
                </a:solidFill>
                <a:latin typeface="黑体"/>
                <a:ea typeface="黑体"/>
                <a:cs typeface="黑体"/>
              </a:rPr>
              <a:t>功能</a:t>
            </a:r>
            <a:r>
              <a:rPr sz="800" b="0" i="0" u="none" cap="none" spc="0">
                <a:ln>
                  <a:noFill/>
                </a:ln>
                <a:solidFill>
                  <a:prstClr val="black"/>
                </a:solidFill>
                <a:latin typeface="黑体"/>
                <a:ea typeface="黑体"/>
                <a:cs typeface="黑体"/>
              </a:rPr>
              <a:t>，</a:t>
            </a:r>
            <a:endParaRPr sz="800" b="0" i="0" u="none" kern="1200" cap="none" spc="0" baseline="0">
              <a:ln>
                <a:noFill/>
              </a:ln>
              <a:solidFill>
                <a:prstClr val="black"/>
              </a:solidFill>
              <a:latin typeface="黑体"/>
              <a:ea typeface="黑体"/>
              <a:cs typeface="黑体"/>
            </a:endParaRPr>
          </a:p>
          <a:p xmlns:a="http://schemas.openxmlformats.org/drawingml/2006/main">
            <a:pPr marL="0" marR="0" lvl="0" indent="0" algn="just" defTabSz="457200">
              <a:lnSpc>
                <a:spcPct val="100000"/>
              </a:lnSpc>
              <a:spcBef>
                <a:spcPct val="20000"/>
              </a:spcBef>
              <a:spcAft>
                <a:spcPct val="0"/>
              </a:spcAft>
              <a:buClrTx/>
              <a:buSzTx/>
              <a:buFont typeface="Arial"/>
              <a:buNone/>
            </a:pPr>
            <a:r>
              <a:rPr sz="800" b="0" i="0" u="none" cap="none" spc="0">
                <a:ln>
                  <a:noFill/>
                </a:ln>
                <a:solidFill>
                  <a:prstClr val="black"/>
                </a:solidFill>
                <a:latin typeface="黑体"/>
                <a:ea typeface="黑体"/>
                <a:cs typeface="黑体"/>
              </a:rPr>
              <a:t>可部署于金融机构本地服务器，满足数据安全要求，并支持后续模型迭代优化</a:t>
            </a:r>
            <a:r>
              <a:rPr sz="800" b="0" i="0" u="none" cap="none" spc="0">
                <a:ln>
                  <a:noFill/>
                </a:ln>
                <a:solidFill>
                  <a:prstClr val="black"/>
                </a:solidFill>
                <a:latin typeface="黑体"/>
                <a:ea typeface="黑体"/>
                <a:cs typeface="黑体"/>
              </a:rPr>
              <a:t>。</a:t>
            </a:r>
          </a:p>
        </p:txBody>
      </p:sp>
      <p:sp>
        <p:nvSpPr>
          <p:cNvPr id="29" name="矩形 28">
            <a:extLst xmlns:a="http://schemas.openxmlformats.org/drawingml/2006/main">
              <a:ext uri="{FF2B5EF4-FFF2-40B4-BE49-F238E27FC236}">
                <a16:creationId xmlns:a16="http://schemas.microsoft.com/office/drawing/2014/main" id="{20568156-533B-9186-AF6F-7325EE762E0E}"/>
              </a:ext>
            </a:extLst>
          </p:cNvPr>
          <p:cNvSpPr>
            <a:spLocks xmlns:a="http://schemas.openxmlformats.org/drawingml/2006/main" noGrp="1"/>
          </p:cNvSpPr>
          <p:nvPr/>
        </p:nvSpPr>
        <p:spPr>
          <a:xfrm xmlns:a="http://schemas.openxmlformats.org/drawingml/2006/main">
            <a:off x="118664" y="5377757"/>
            <a:ext cx="4791832" cy="1009580"/>
          </a:xfrm>
          <a:prstGeom xmlns:a="http://schemas.openxmlformats.org/drawingml/2006/main" prst="rect">
            <a:avLst/>
          </a:prstGeom>
          <a:solidFill xmlns:a="http://schemas.openxmlformats.org/drawingml/2006/main">
            <a:srgbClr val="F2F2F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等线"/>
              <a:ea typeface="等线"/>
              <a:cs typeface="等线"/>
            </a:endParaRPr>
          </a:p>
        </p:txBody>
      </p:sp>
      <p:pic>
        <p:nvPicPr>
          <p:cNvPr id="268" name="图片 30"/>
          <p:cNvPicPr>
            <a:picLocks xmlns:a="http://schemas.openxmlformats.org/drawingml/2006/main" noChangeAspect="1"/>
          </p:cNvPicPr>
          <p:nvPr/>
        </p:nvPicPr>
        <p:blipFill>
          <a:blip xmlns:r="http://schemas.openxmlformats.org/officeDocument/2006/relationships" xmlns:a="http://schemas.openxmlformats.org/drawingml/2006/main" r:embed="Rdac8781433b3485f"/>
          <a:stretch xmlns:a="http://schemas.openxmlformats.org/drawingml/2006/main">
            <a:fillRect l="0" t="0" r="0" b="0"/>
          </a:stretch>
        </p:blipFill>
        <p:spPr>
          <a:xfrm xmlns:a="http://schemas.openxmlformats.org/drawingml/2006/main">
            <a:off x="4495048" y="6182681"/>
            <a:ext cx="391546" cy="187262"/>
          </a:xfrm>
          <a:prstGeom xmlns:a="http://schemas.openxmlformats.org/drawingml/2006/main" prst="rect">
            <a:avLst/>
          </a:prstGeom>
        </p:spPr>
      </p:pic>
      <p:sp>
        <p:nvSpPr>
          <p:cNvPr id="35" name="文本占位符 16">
            <a:extLst xmlns:a="http://schemas.openxmlformats.org/drawingml/2006/main">
              <a:ext uri="{FF2B5EF4-FFF2-40B4-BE49-F238E27FC236}">
                <a16:creationId xmlns:a16="http://schemas.microsoft.com/office/drawing/2014/main" id="{21100435-8876-F2AB-D8BB-F64A489D05C1}"/>
              </a:ext>
            </a:extLst>
          </p:cNvPr>
          <p:cNvSpPr>
            <a:spLocks xmlns:a="http://schemas.openxmlformats.org/drawingml/2006/main" noGrp="1"/>
          </p:cNvSpPr>
          <p:nvPr/>
        </p:nvSpPr>
        <p:spPr>
          <a:xfrm xmlns:a="http://schemas.openxmlformats.org/drawingml/2006/main">
            <a:off x="630877" y="5390129"/>
            <a:ext cx="4287441" cy="9877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lIns="45720" tIns="45720" rIns="45720" bIns="45720"/>
          <a:lstStyle xmlns:a="http://schemas.openxmlformats.org/drawingml/2006/main">
            <a:lvl1pPr marL="0" indent="0" algn="l" defTabSz="457200">
              <a:spcBef>
                <a:spcPct val="20000"/>
              </a:spcBef>
              <a:spcAft>
                <a:spcPct val="0"/>
              </a:spcAft>
              <a:buFont typeface="Arial"/>
              <a:buNone/>
              <a:defRPr sz="900" kern="1200">
                <a:solidFill>
                  <a:schemeClr val="tx1"/>
                </a:solidFill>
                <a:latin typeface="Times New Roman"/>
                <a:ea typeface="Times New Roman"/>
                <a:cs typeface="Times New Roman"/>
              </a:defRPr>
            </a:lvl1pPr>
            <a:lvl2pPr marL="742950" indent="-285750" algn="l" defTabSz="457200">
              <a:spcBef>
                <a:spcPct val="20000"/>
              </a:spcBef>
              <a:spcAft>
                <a:spcPct val="0"/>
              </a:spcAft>
              <a:buFont typeface="Arial"/>
              <a:buChar char="–"/>
              <a:defRPr sz="2800" kern="1200">
                <a:solidFill>
                  <a:schemeClr val="tx1"/>
                </a:solidFill>
                <a:latin typeface="Arial"/>
                <a:ea typeface="Arial"/>
                <a:cs typeface="Arial"/>
              </a:defRPr>
            </a:lvl2pPr>
            <a:lvl3pPr marL="1143000" indent="-228600" algn="l" defTabSz="457200">
              <a:spcBef>
                <a:spcPct val="20000"/>
              </a:spcBef>
              <a:spcAft>
                <a:spcPct val="0"/>
              </a:spcAft>
              <a:buFont typeface="Arial"/>
              <a:buChar char="•"/>
              <a:defRPr sz="2400" kern="1200">
                <a:solidFill>
                  <a:schemeClr val="tx1"/>
                </a:solidFill>
                <a:latin typeface="Arial"/>
                <a:ea typeface="Arial"/>
                <a:cs typeface="Arial"/>
              </a:defRPr>
            </a:lvl3pPr>
            <a:lvl4pPr marL="1600200" indent="-228600" algn="l" defTabSz="457200">
              <a:spcBef>
                <a:spcPct val="20000"/>
              </a:spcBef>
              <a:spcAft>
                <a:spcPct val="0"/>
              </a:spcAft>
              <a:buFont typeface="Arial"/>
              <a:buChar char="–"/>
              <a:defRPr sz="2000" kern="1200">
                <a:solidFill>
                  <a:schemeClr val="tx1"/>
                </a:solidFill>
                <a:latin typeface="Arial"/>
                <a:ea typeface="Arial"/>
                <a:cs typeface="Arial"/>
              </a:defRPr>
            </a:lvl4pPr>
            <a:lvl5pPr marL="2057400" indent="-228600" algn="l" defTabSz="457200">
              <a:spcBef>
                <a:spcPct val="20000"/>
              </a:spcBef>
              <a:spcAft>
                <a:spcPct val="0"/>
              </a:spcAft>
              <a:buFont typeface="Arial"/>
              <a:buChar char="»"/>
              <a:defRPr sz="2000" kern="1200">
                <a:solidFill>
                  <a:schemeClr val="tx1"/>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a:lstStyle>
          <a:p xmlns:a="http://schemas.openxmlformats.org/drawingml/2006/main">
            <a:pPr marL="0" marR="0" lvl="0" indent="0" algn="just" defTabSz="457200">
              <a:lnSpc>
                <a:spcPct val="100000"/>
              </a:lnSpc>
              <a:spcBef>
                <a:spcPct val="20000"/>
              </a:spcBef>
              <a:spcAft>
                <a:spcPct val="0"/>
              </a:spcAft>
              <a:buClrTx/>
              <a:buSzTx/>
              <a:buFont typeface="Arial"/>
              <a:buNone/>
            </a:pPr>
            <a:r>
              <a:rPr sz="800" b="1" i="0" u="none" cap="none" spc="0">
                <a:ln>
                  <a:noFill/>
                </a:ln>
                <a:solidFill>
                  <a:srgbClr val="002060"/>
                </a:solidFill>
                <a:latin typeface="黑体"/>
                <a:ea typeface="黑体"/>
                <a:cs typeface="黑体"/>
              </a:rPr>
              <a:t>1</a:t>
            </a:r>
            <a:r>
              <a:rPr sz="800" b="1" i="0" u="none" cap="none" spc="0">
                <a:ln>
                  <a:noFill/>
                </a:ln>
                <a:solidFill>
                  <a:srgbClr val="002060"/>
                </a:solidFill>
                <a:latin typeface="黑体"/>
                <a:ea typeface="黑体"/>
                <a:cs typeface="黑体"/>
              </a:rPr>
              <a:t>.时间变化下视觉特征适应不足：</a:t>
            </a:r>
            <a:r>
              <a:rPr sz="800" b="0" i="0" u="none" cap="none" spc="0">
                <a:ln>
                  <a:noFill/>
                </a:ln>
                <a:solidFill>
                  <a:prstClr val="black"/>
                </a:solidFill>
                <a:latin typeface="Times New Roman"/>
                <a:ea typeface="Times New Roman"/>
                <a:cs typeface="Times New Roman"/>
              </a:rPr>
              <a:t>AI合成构建</a:t>
            </a:r>
            <a:r>
              <a:rPr sz="800" b="0" i="0" u="none" cap="none" spc="0">
                <a:ln>
                  <a:noFill/>
                </a:ln>
                <a:solidFill>
                  <a:prstClr val="black"/>
                </a:solidFill>
                <a:latin typeface="Times New Roman"/>
                <a:ea typeface="Times New Roman"/>
                <a:cs typeface="Times New Roman"/>
              </a:rPr>
              <a:t>的影像</a:t>
            </a:r>
            <a:r>
              <a:rPr sz="800" b="0" i="0" u="none" cap="none" spc="0">
                <a:ln>
                  <a:noFill/>
                </a:ln>
                <a:solidFill>
                  <a:prstClr val="black"/>
                </a:solidFill>
                <a:latin typeface="Times New Roman"/>
                <a:ea typeface="Times New Roman"/>
                <a:cs typeface="Times New Roman"/>
              </a:rPr>
              <a:t>对真实客户不同授信周期</a:t>
            </a:r>
            <a:r>
              <a:rPr sz="800" b="0" i="0" u="none" cap="none" spc="0">
                <a:ln>
                  <a:noFill/>
                </a:ln>
                <a:solidFill>
                  <a:prstClr val="black"/>
                </a:solidFill>
                <a:latin typeface="Times New Roman"/>
                <a:ea typeface="Times New Roman"/>
                <a:cs typeface="Times New Roman"/>
              </a:rPr>
              <a:t>下</a:t>
            </a:r>
            <a:r>
              <a:rPr sz="800" b="0" i="0" u="none" cap="none" spc="0">
                <a:ln>
                  <a:noFill/>
                </a:ln>
                <a:solidFill>
                  <a:prstClr val="black"/>
                </a:solidFill>
                <a:latin typeface="Times New Roman"/>
                <a:ea typeface="Times New Roman"/>
                <a:cs typeface="Times New Roman"/>
              </a:rPr>
              <a:t>的衣着、发型、外貌等变化模拟仍不充分，导致模型对长期人像变化规律学习有限，部分时间跨度较大的正常业务仍存在误判风险。</a:t>
            </a:r>
            <a:r>
              <a:rPr sz="800" b="1" i="0" u="none" cap="none" spc="0">
                <a:ln>
                  <a:noFill/>
                </a:ln>
                <a:solidFill>
                  <a:srgbClr val="002060"/>
                </a:solidFill>
                <a:latin typeface="黑体"/>
                <a:ea typeface="黑体"/>
                <a:cs typeface="黑体"/>
              </a:rPr>
              <a:t>改进方案：</a:t>
            </a:r>
            <a:r>
              <a:rPr sz="800" b="0" i="0" u="none" cap="none" spc="0">
                <a:ln>
                  <a:noFill/>
                </a:ln>
                <a:solidFill>
                  <a:srgbClr val="444444"/>
                </a:solidFill>
                <a:latin typeface="黑体"/>
                <a:ea typeface="黑体"/>
                <a:cs typeface="黑体"/>
              </a:rPr>
              <a:t>接入真实历史业务数据，</a:t>
            </a:r>
            <a:r>
              <a:rPr sz="800" b="0" i="0" u="none" cap="none" spc="0">
                <a:ln>
                  <a:noFill/>
                </a:ln>
                <a:solidFill>
                  <a:prstClr val="black"/>
                </a:solidFill>
                <a:latin typeface="Times New Roman"/>
                <a:ea typeface="Times New Roman"/>
                <a:cs typeface="Times New Roman"/>
              </a:rPr>
              <a:t>进一步分析授信时间间隔与人像变化程</a:t>
            </a:r>
            <a:r>
              <a:rPr sz="800" b="0" i="0" u="none" cap="none" spc="0">
                <a:ln>
                  <a:noFill/>
                </a:ln>
                <a:solidFill>
                  <a:prstClr val="black"/>
                </a:solidFill>
                <a:latin typeface="Times New Roman"/>
                <a:ea typeface="Times New Roman"/>
                <a:cs typeface="Times New Roman"/>
              </a:rPr>
              <a:t>度</a:t>
            </a:r>
            <a:r>
              <a:rPr sz="800" b="0" i="0" u="none" cap="none" spc="0">
                <a:ln>
                  <a:noFill/>
                </a:ln>
                <a:solidFill>
                  <a:prstClr val="black"/>
                </a:solidFill>
                <a:latin typeface="Times New Roman"/>
                <a:ea typeface="Times New Roman"/>
                <a:cs typeface="Times New Roman"/>
              </a:rPr>
              <a:t>的关系</a:t>
            </a:r>
            <a:r>
              <a:rPr sz="800" b="0" i="0" u="none" cap="none" spc="0">
                <a:ln>
                  <a:noFill/>
                </a:ln>
                <a:solidFill>
                  <a:prstClr val="black"/>
                </a:solidFill>
                <a:latin typeface="Times New Roman"/>
                <a:ea typeface="Times New Roman"/>
                <a:cs typeface="Times New Roman"/>
              </a:rPr>
              <a:t>；</a:t>
            </a:r>
            <a:r>
              <a:rPr sz="800" b="0" i="0" u="none" cap="none" spc="0">
                <a:ln>
                  <a:noFill/>
                </a:ln>
                <a:solidFill>
                  <a:prstClr val="black"/>
                </a:solidFill>
                <a:latin typeface="Times New Roman"/>
                <a:ea typeface="Times New Roman"/>
                <a:cs typeface="Times New Roman"/>
              </a:rPr>
              <a:t>并补充不同时间跨度样本，提高模型长期</a:t>
            </a:r>
            <a:r>
              <a:rPr sz="800" b="0" i="0" u="none" cap="none" spc="0">
                <a:ln>
                  <a:noFill/>
                </a:ln>
                <a:solidFill>
                  <a:prstClr val="black"/>
                </a:solidFill>
                <a:latin typeface="Times New Roman"/>
                <a:ea typeface="Times New Roman"/>
                <a:cs typeface="Times New Roman"/>
              </a:rPr>
              <a:t>检测</a:t>
            </a:r>
            <a:r>
              <a:rPr sz="800" b="0" i="0" u="none" cap="none" spc="0">
                <a:ln>
                  <a:noFill/>
                </a:ln>
                <a:solidFill>
                  <a:prstClr val="black"/>
                </a:solidFill>
                <a:latin typeface="Times New Roman"/>
                <a:ea typeface="Times New Roman"/>
                <a:cs typeface="Times New Roman"/>
              </a:rPr>
              <a:t>稳定性。</a:t>
            </a:r>
            <a:endParaRPr sz="800" b="0" i="0" u="none" kern="1200" cap="none" spc="0" baseline="0">
              <a:ln>
                <a:noFill/>
              </a:ln>
              <a:solidFill>
                <a:srgbClr val="444444"/>
              </a:solidFill>
              <a:latin typeface="黑体"/>
              <a:ea typeface="黑体"/>
              <a:cs typeface="黑体"/>
            </a:endParaRPr>
          </a:p>
          <a:p xmlns:a="http://schemas.openxmlformats.org/drawingml/2006/main">
            <a:pPr marL="0" marR="0" lvl="0" indent="0" algn="just" defTabSz="457200">
              <a:lnSpc>
                <a:spcPct val="100000"/>
              </a:lnSpc>
              <a:spcBef>
                <a:spcPct val="20000"/>
              </a:spcBef>
              <a:spcAft>
                <a:spcPct val="0"/>
              </a:spcAft>
              <a:buClrTx/>
              <a:buSzTx/>
              <a:buFont typeface="Arial"/>
              <a:buNone/>
            </a:pPr>
            <a:r>
              <a:rPr sz="800" b="1" i="0" u="none" cap="none" spc="0">
                <a:ln>
                  <a:noFill/>
                </a:ln>
                <a:solidFill>
                  <a:srgbClr val="002060"/>
                </a:solidFill>
                <a:latin typeface="黑体"/>
                <a:ea typeface="黑体"/>
                <a:cs typeface="黑体"/>
              </a:rPr>
              <a:t>2.</a:t>
            </a:r>
            <a:r>
              <a:rPr sz="800" b="1" i="0" u="none" cap="none" spc="0">
                <a:ln>
                  <a:noFill/>
                </a:ln>
                <a:solidFill>
                  <a:srgbClr val="002060"/>
                </a:solidFill>
                <a:latin typeface="黑体"/>
                <a:ea typeface="黑体"/>
                <a:cs typeface="黑体"/>
              </a:rPr>
              <a:t>风险类型扩展能力仍需提升：</a:t>
            </a:r>
            <a:r>
              <a:rPr sz="800" b="0" i="0" u="none" cap="none" spc="0">
                <a:ln>
                  <a:noFill/>
                </a:ln>
                <a:solidFill>
                  <a:prstClr val="black"/>
                </a:solidFill>
                <a:latin typeface="黑体"/>
                <a:ea typeface="黑体"/>
                <a:cs typeface="黑体"/>
              </a:rPr>
              <a:t>当前模型主要覆盖同客户正常多笔授信和违规重复使用、跨客户套用等风险，对其他影像违规模式覆盖有限。</a:t>
            </a:r>
            <a:r>
              <a:rPr sz="800" b="1" i="0" u="none" cap="none" spc="0">
                <a:ln>
                  <a:noFill/>
                </a:ln>
                <a:solidFill>
                  <a:srgbClr val="002060"/>
                </a:solidFill>
                <a:latin typeface="黑体"/>
                <a:ea typeface="黑体"/>
                <a:cs typeface="黑体"/>
              </a:rPr>
              <a:t>改进方案：</a:t>
            </a:r>
            <a:r>
              <a:rPr sz="800" b="0" i="0" u="none" cap="none" spc="0">
                <a:ln>
                  <a:noFill/>
                </a:ln>
                <a:solidFill>
                  <a:prstClr val="black"/>
                </a:solidFill>
                <a:latin typeface="黑体"/>
                <a:ea typeface="黑体"/>
                <a:cs typeface="黑体"/>
              </a:rPr>
              <a:t>后续增加</a:t>
            </a:r>
            <a:r>
              <a:rPr sz="800" b="0" i="0" u="none" cap="none" spc="0">
                <a:ln>
                  <a:noFill/>
                </a:ln>
                <a:solidFill>
                  <a:prstClr val="black"/>
                </a:solidFill>
                <a:latin typeface="黑体"/>
                <a:ea typeface="黑体"/>
                <a:cs typeface="黑体"/>
              </a:rPr>
              <a:t>PS</a:t>
            </a:r>
            <a:r>
              <a:rPr sz="800" b="0" i="0" u="none" cap="none" spc="0">
                <a:ln>
                  <a:noFill/>
                </a:ln>
                <a:solidFill>
                  <a:prstClr val="black"/>
                </a:solidFill>
                <a:latin typeface="黑体"/>
                <a:ea typeface="黑体"/>
                <a:cs typeface="黑体"/>
              </a:rPr>
              <a:t>纂改和</a:t>
            </a:r>
            <a:r>
              <a:rPr sz="800" b="0" i="0" u="none" cap="none" spc="0">
                <a:ln>
                  <a:noFill/>
                </a:ln>
                <a:solidFill>
                  <a:prstClr val="black"/>
                </a:solidFill>
                <a:latin typeface="黑体"/>
                <a:ea typeface="黑体"/>
                <a:cs typeface="黑体"/>
              </a:rPr>
              <a:t>AI</a:t>
            </a:r>
            <a:r>
              <a:rPr sz="800" b="0" i="0" u="none" cap="none" spc="0">
                <a:ln>
                  <a:noFill/>
                </a:ln>
                <a:solidFill>
                  <a:prstClr val="black"/>
                </a:solidFill>
                <a:latin typeface="黑体"/>
                <a:ea typeface="黑体"/>
                <a:cs typeface="黑体"/>
              </a:rPr>
              <a:t>生成等风险场景训练，并结合人工复核反馈扩充风险标签，提升风险类别覆盖能力。</a:t>
            </a:r>
          </a:p>
        </p:txBody>
      </p:sp>
      <p:sp>
        <p:nvSpPr>
          <p:cNvPr id="5" name="矩形 4">
            <a:extLst xmlns:a="http://schemas.openxmlformats.org/drawingml/2006/main">
              <a:ext uri="{FF2B5EF4-FFF2-40B4-BE49-F238E27FC236}">
                <a16:creationId xmlns:a16="http://schemas.microsoft.com/office/drawing/2014/main" id="{B532B05C-AB56-C6BD-E9E4-78215DA4D238}"/>
              </a:ext>
            </a:extLst>
          </p:cNvPr>
          <p:cNvSpPr>
            <a:spLocks xmlns:a="http://schemas.openxmlformats.org/drawingml/2006/main" noGrp="1"/>
          </p:cNvSpPr>
          <p:nvPr/>
        </p:nvSpPr>
        <p:spPr>
          <a:xfrm xmlns:a="http://schemas.openxmlformats.org/drawingml/2006/main">
            <a:off x="5020577" y="5377757"/>
            <a:ext cx="6993948" cy="1427066"/>
          </a:xfrm>
          <a:prstGeom xmlns:a="http://schemas.openxmlformats.org/drawingml/2006/main" prst="rect">
            <a:avLst/>
          </a:prstGeom>
          <a:solidFill xmlns:a="http://schemas.openxmlformats.org/drawingml/2006/main">
            <a:srgbClr val="FEF6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等线"/>
              <a:ea typeface="等线"/>
              <a:cs typeface="等线"/>
            </a:endParaRPr>
          </a:p>
        </p:txBody>
      </p:sp>
      <p:pic>
        <p:nvPicPr>
          <p:cNvPr id="271" name="图片 8"/>
          <p:cNvPicPr>
            <a:picLocks xmlns:a="http://schemas.openxmlformats.org/drawingml/2006/main" noChangeAspect="1"/>
          </p:cNvPicPr>
          <p:nvPr/>
        </p:nvPicPr>
        <p:blipFill>
          <a:blip xmlns:r="http://schemas.openxmlformats.org/officeDocument/2006/relationships" xmlns:a="http://schemas.openxmlformats.org/drawingml/2006/main" r:embed="R4aa0e20f57a34575"/>
          <a:stretch xmlns:a="http://schemas.openxmlformats.org/drawingml/2006/main">
            <a:fillRect l="0" t="0" r="0" b="0"/>
          </a:stretch>
        </p:blipFill>
        <p:spPr>
          <a:xfrm xmlns:a="http://schemas.openxmlformats.org/drawingml/2006/main">
            <a:off x="5016915" y="5382580"/>
            <a:ext cx="321880" cy="242576"/>
          </a:xfrm>
          <a:prstGeom xmlns:a="http://schemas.openxmlformats.org/drawingml/2006/main" prst="rect">
            <a:avLst/>
          </a:prstGeom>
        </p:spPr>
      </p:pic>
      <p:sp>
        <p:nvSpPr>
          <p:cNvPr id="17" name="文本框 16">
            <a:extLst xmlns:a="http://schemas.openxmlformats.org/drawingml/2006/main">
              <a:ext uri="{FF2B5EF4-FFF2-40B4-BE49-F238E27FC236}">
                <a16:creationId xmlns:a16="http://schemas.microsoft.com/office/drawing/2014/main" id="{6C1DAAAF-E9B7-7561-183A-D3295BF7CC02}"/>
              </a:ext>
            </a:extLst>
          </p:cNvPr>
          <p:cNvSpPr>
            <a:spLocks xmlns:a="http://schemas.openxmlformats.org/drawingml/2006/main" noGrp="1"/>
          </p:cNvSpPr>
          <p:nvPr/>
        </p:nvSpPr>
        <p:spPr>
          <a:xfrm xmlns:a="http://schemas.openxmlformats.org/drawingml/2006/main">
            <a:off x="5232507" y="5338888"/>
            <a:ext cx="3103283"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400" b="1" i="0" u="none" cap="none" spc="0">
                <a:ln>
                  <a:noFill/>
                </a:ln>
                <a:solidFill>
                  <a:prstClr val="black"/>
                </a:solidFill>
                <a:latin typeface="黑体"/>
                <a:ea typeface="黑体"/>
                <a:cs typeface="黑体"/>
              </a:rPr>
              <a:t>项目技术亮点（相比现有技术的突破）</a:t>
            </a:r>
          </a:p>
        </p:txBody>
      </p:sp>
      <p:sp>
        <p:nvSpPr>
          <p:cNvPr id="21" name="文本占位符 14">
            <a:extLst xmlns:a="http://schemas.openxmlformats.org/drawingml/2006/main">
              <a:ext uri="{FF2B5EF4-FFF2-40B4-BE49-F238E27FC236}">
                <a16:creationId xmlns:a16="http://schemas.microsoft.com/office/drawing/2014/main" id="{055D1E85-FB7B-2244-CEC4-F5E39CE93AA6}"/>
              </a:ext>
            </a:extLst>
          </p:cNvPr>
          <p:cNvSpPr>
            <a:spLocks xmlns:a="http://schemas.openxmlformats.org/drawingml/2006/main" noGrp="1"/>
          </p:cNvSpPr>
          <p:nvPr/>
        </p:nvSpPr>
        <p:spPr>
          <a:xfrm xmlns:a="http://schemas.openxmlformats.org/drawingml/2006/main">
            <a:off x="5052484" y="5576854"/>
            <a:ext cx="6930133" cy="117191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lIns="45720" tIns="45720" rIns="45720" bIns="45720"/>
          <a:lstStyle xmlns:a="http://schemas.openxmlformats.org/drawingml/2006/main">
            <a:lvl1pPr marL="0" indent="0" algn="l" defTabSz="457200">
              <a:spcBef>
                <a:spcPct val="20000"/>
              </a:spcBef>
              <a:spcAft>
                <a:spcPct val="0"/>
              </a:spcAft>
              <a:buFont typeface="Arial"/>
              <a:buNone/>
              <a:defRPr sz="900" kern="1200">
                <a:solidFill>
                  <a:schemeClr val="tx1"/>
                </a:solidFill>
                <a:latin typeface="Times New Roman"/>
                <a:ea typeface="Times New Roman"/>
                <a:cs typeface="Times New Roman"/>
              </a:defRPr>
            </a:lvl1pPr>
            <a:lvl2pPr marL="742950" indent="-285750" algn="l" defTabSz="457200">
              <a:spcBef>
                <a:spcPct val="20000"/>
              </a:spcBef>
              <a:spcAft>
                <a:spcPct val="0"/>
              </a:spcAft>
              <a:buFont typeface="Arial"/>
              <a:buChar char="–"/>
              <a:defRPr sz="2800" kern="1200">
                <a:solidFill>
                  <a:schemeClr val="tx1"/>
                </a:solidFill>
                <a:latin typeface="Arial"/>
                <a:ea typeface="Arial"/>
                <a:cs typeface="Arial"/>
              </a:defRPr>
            </a:lvl2pPr>
            <a:lvl3pPr marL="1143000" indent="-228600" algn="l" defTabSz="457200">
              <a:spcBef>
                <a:spcPct val="20000"/>
              </a:spcBef>
              <a:spcAft>
                <a:spcPct val="0"/>
              </a:spcAft>
              <a:buFont typeface="Arial"/>
              <a:buChar char="•"/>
              <a:defRPr sz="2400" kern="1200">
                <a:solidFill>
                  <a:schemeClr val="tx1"/>
                </a:solidFill>
                <a:latin typeface="Arial"/>
                <a:ea typeface="Arial"/>
                <a:cs typeface="Arial"/>
              </a:defRPr>
            </a:lvl3pPr>
            <a:lvl4pPr marL="1600200" indent="-228600" algn="l" defTabSz="457200">
              <a:spcBef>
                <a:spcPct val="20000"/>
              </a:spcBef>
              <a:spcAft>
                <a:spcPct val="0"/>
              </a:spcAft>
              <a:buFont typeface="Arial"/>
              <a:buChar char="–"/>
              <a:defRPr sz="2000" kern="1200">
                <a:solidFill>
                  <a:schemeClr val="tx1"/>
                </a:solidFill>
                <a:latin typeface="Arial"/>
                <a:ea typeface="Arial"/>
                <a:cs typeface="Arial"/>
              </a:defRPr>
            </a:lvl4pPr>
            <a:lvl5pPr marL="2057400" indent="-228600" algn="l" defTabSz="457200">
              <a:spcBef>
                <a:spcPct val="20000"/>
              </a:spcBef>
              <a:spcAft>
                <a:spcPct val="0"/>
              </a:spcAft>
              <a:buFont typeface="Arial"/>
              <a:buChar char="»"/>
              <a:defRPr sz="2000" kern="1200">
                <a:solidFill>
                  <a:schemeClr val="tx1"/>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a:lstStyle>
          <a:p xmlns:a="http://schemas.openxmlformats.org/drawingml/2006/main">
            <a:pPr marL="0" marR="0" lvl="0" indent="0" algn="just" defTabSz="457200">
              <a:lnSpc>
                <a:spcPct val="100000"/>
              </a:lnSpc>
              <a:spcBef>
                <a:spcPct val="20000"/>
              </a:spcBef>
              <a:spcAft>
                <a:spcPct val="0"/>
              </a:spcAft>
              <a:buClrTx/>
              <a:buSzTx/>
              <a:buFont typeface="Arial"/>
              <a:buNone/>
            </a:pPr>
            <a:r>
              <a:rPr sz="1000" b="1" i="0" u="none" cap="none" spc="0">
                <a:ln>
                  <a:noFill/>
                </a:ln>
                <a:solidFill>
                  <a:srgbClr val="002060"/>
                </a:solidFill>
                <a:latin typeface="黑体"/>
                <a:ea typeface="黑体"/>
                <a:cs typeface="黑体"/>
              </a:rPr>
              <a:t>1.</a:t>
            </a:r>
            <a:r>
              <a:rPr sz="1000" b="1" i="0" u="none" cap="none" spc="0">
                <a:ln>
                  <a:noFill/>
                </a:ln>
                <a:solidFill>
                  <a:srgbClr val="002060"/>
                </a:solidFill>
                <a:latin typeface="黑体"/>
                <a:ea typeface="黑体"/>
                <a:cs typeface="黑体"/>
              </a:rPr>
              <a:t>视觉语义编码与高效近似检索</a:t>
            </a:r>
            <a:r>
              <a:rPr sz="1000" b="1" i="0" u="none" cap="none" spc="0">
                <a:ln>
                  <a:noFill/>
                </a:ln>
                <a:solidFill>
                  <a:srgbClr val="002060"/>
                </a:solidFill>
                <a:latin typeface="黑体"/>
                <a:ea typeface="黑体"/>
                <a:cs typeface="黑体"/>
              </a:rPr>
              <a:t>：</a:t>
            </a:r>
            <a:r>
              <a:rPr sz="1000" b="0" i="0" u="none" cap="none" spc="0">
                <a:ln>
                  <a:noFill/>
                </a:ln>
                <a:solidFill>
                  <a:prstClr val="black"/>
                </a:solidFill>
                <a:latin typeface="黑体"/>
                <a:ea typeface="黑体"/>
                <a:cs typeface="黑体"/>
              </a:rPr>
              <a:t>采用SigLIP2提取视觉语义向量，结合FAISS</a:t>
            </a:r>
            <a:r>
              <a:rPr sz="1000" b="0" i="0" u="none" cap="none" spc="0">
                <a:ln>
                  <a:noFill/>
                </a:ln>
                <a:solidFill>
                  <a:prstClr val="black"/>
                </a:solidFill>
                <a:latin typeface="黑体"/>
                <a:ea typeface="黑体"/>
                <a:cs typeface="黑体"/>
              </a:rPr>
              <a:t> </a:t>
            </a:r>
            <a:r>
              <a:rPr sz="1000" b="0" i="0" u="none" cap="none" spc="0">
                <a:ln>
                  <a:noFill/>
                </a:ln>
                <a:solidFill>
                  <a:prstClr val="black"/>
                </a:solidFill>
                <a:latin typeface="黑体"/>
                <a:ea typeface="黑体"/>
                <a:cs typeface="黑体"/>
              </a:rPr>
              <a:t>Top-K近邻索引，将全量O</a:t>
            </a:r>
            <a:r>
              <a:rPr sz="1000" b="0" i="0" u="none" cap="none" spc="0">
                <a:ln>
                  <a:noFill/>
                </a:ln>
                <a:solidFill>
                  <a:prstClr val="black"/>
                </a:solidFill>
                <a:latin typeface="黑体"/>
                <a:ea typeface="黑体"/>
                <a:cs typeface="黑体"/>
              </a:rPr>
              <a:t>(N²)</a:t>
            </a:r>
            <a:r>
              <a:rPr sz="1000" b="0" i="0" u="none" cap="none" spc="0">
                <a:ln>
                  <a:noFill/>
                </a:ln>
                <a:solidFill>
                  <a:prstClr val="black"/>
                </a:solidFill>
                <a:latin typeface="黑体"/>
                <a:ea typeface="黑体"/>
                <a:cs typeface="黑体"/>
              </a:rPr>
              <a:t>两两比对转</a:t>
            </a:r>
            <a:r>
              <a:rPr sz="1000" b="0" i="0" u="none" cap="none" spc="0">
                <a:ln>
                  <a:noFill/>
                </a:ln>
                <a:solidFill>
                  <a:prstClr val="black"/>
                </a:solidFill>
                <a:latin typeface="黑体"/>
                <a:ea typeface="黑体"/>
                <a:cs typeface="黑体"/>
              </a:rPr>
              <a:t>化</a:t>
            </a:r>
            <a:r>
              <a:rPr sz="1000" b="0" i="0" u="none" cap="none" spc="0">
                <a:ln>
                  <a:noFill/>
                </a:ln>
                <a:solidFill>
                  <a:prstClr val="black"/>
                </a:solidFill>
                <a:latin typeface="黑体"/>
                <a:ea typeface="黑体"/>
                <a:cs typeface="黑体"/>
              </a:rPr>
              <a:t>为高效向量检索</a:t>
            </a:r>
            <a:r>
              <a:rPr sz="1000" b="0" i="0" u="none" cap="none" spc="0">
                <a:ln>
                  <a:noFill/>
                </a:ln>
                <a:solidFill>
                  <a:prstClr val="black"/>
                </a:solidFill>
                <a:latin typeface="黑体"/>
                <a:ea typeface="黑体"/>
                <a:cs typeface="黑体"/>
              </a:rPr>
              <a:t>，</a:t>
            </a:r>
            <a:r>
              <a:rPr sz="1000" b="0" i="0" u="none" cap="none" spc="0">
                <a:ln>
                  <a:noFill/>
                </a:ln>
                <a:solidFill>
                  <a:prstClr val="black"/>
                </a:solidFill>
                <a:latin typeface="黑体"/>
                <a:ea typeface="黑体"/>
                <a:cs typeface="黑体"/>
              </a:rPr>
              <a:t>候选空间缩减率达</a:t>
            </a:r>
            <a:r>
              <a:rPr sz="1000" b="0" i="0" u="none" cap="none" spc="0">
                <a:ln>
                  <a:noFill/>
                </a:ln>
                <a:solidFill>
                  <a:prstClr val="black"/>
                </a:solidFill>
                <a:latin typeface="黑体"/>
                <a:ea typeface="黑体"/>
                <a:cs typeface="黑体"/>
              </a:rPr>
              <a:t>99.5%</a:t>
            </a:r>
            <a:r>
              <a:rPr sz="1000" b="0" i="0" u="none" cap="none" spc="0">
                <a:ln>
                  <a:noFill/>
                </a:ln>
                <a:solidFill>
                  <a:prstClr val="black"/>
                </a:solidFill>
                <a:latin typeface="黑体"/>
                <a:ea typeface="黑体"/>
                <a:cs typeface="黑体"/>
              </a:rPr>
              <a:t>，候选</a:t>
            </a:r>
            <a:r>
              <a:rPr sz="1000" b="0" i="0" u="none" cap="none" spc="0">
                <a:ln>
                  <a:noFill/>
                </a:ln>
                <a:solidFill>
                  <a:prstClr val="black"/>
                </a:solidFill>
                <a:latin typeface="黑体"/>
                <a:ea typeface="黑体"/>
                <a:cs typeface="黑体"/>
              </a:rPr>
              <a:t>召回率&gt;99%，</a:t>
            </a:r>
            <a:r>
              <a:rPr sz="1000" b="0" i="0" u="none" cap="none" spc="0">
                <a:ln>
                  <a:noFill/>
                </a:ln>
                <a:solidFill>
                  <a:prstClr val="black"/>
                </a:solidFill>
                <a:latin typeface="黑体"/>
                <a:ea typeface="黑体"/>
                <a:cs typeface="黑体"/>
              </a:rPr>
              <a:t>有效</a:t>
            </a:r>
            <a:r>
              <a:rPr sz="1000" b="0" i="0" u="none" cap="none" spc="0">
                <a:ln>
                  <a:noFill/>
                </a:ln>
                <a:solidFill>
                  <a:prstClr val="black"/>
                </a:solidFill>
                <a:latin typeface="黑体"/>
                <a:ea typeface="黑体"/>
                <a:cs typeface="黑体"/>
              </a:rPr>
              <a:t>突破海量影像检索效率瓶颈</a:t>
            </a:r>
            <a:r>
              <a:rPr sz="1000" b="0" i="0" u="none" cap="none" spc="0">
                <a:ln>
                  <a:noFill/>
                </a:ln>
                <a:solidFill>
                  <a:prstClr val="black"/>
                </a:solidFill>
                <a:latin typeface="黑体"/>
                <a:ea typeface="黑体"/>
                <a:cs typeface="黑体"/>
              </a:rPr>
              <a:t>。</a:t>
            </a:r>
            <a:endParaRPr sz="1000" b="1" i="0" u="none" kern="1200" cap="none" spc="0" baseline="0">
              <a:ln>
                <a:noFill/>
              </a:ln>
              <a:solidFill>
                <a:prstClr val="black"/>
              </a:solidFill>
              <a:latin typeface="黑体"/>
              <a:ea typeface="黑体"/>
              <a:cs typeface="黑体"/>
            </a:endParaRPr>
          </a:p>
          <a:p xmlns:a="http://schemas.openxmlformats.org/drawingml/2006/main">
            <a:pPr marL="0" marR="0" lvl="0" indent="0" algn="just" defTabSz="457200">
              <a:lnSpc>
                <a:spcPct val="100000"/>
              </a:lnSpc>
              <a:spcBef>
                <a:spcPct val="20000"/>
              </a:spcBef>
              <a:spcAft>
                <a:spcPct val="0"/>
              </a:spcAft>
              <a:buClrTx/>
              <a:buSzTx/>
              <a:buFont typeface="Arial"/>
              <a:buNone/>
            </a:pPr>
            <a:r>
              <a:rPr sz="1000" b="1" i="0" u="none" cap="none" spc="0">
                <a:ln>
                  <a:noFill/>
                </a:ln>
                <a:solidFill>
                  <a:srgbClr val="002060"/>
                </a:solidFill>
                <a:latin typeface="黑体"/>
                <a:ea typeface="黑体"/>
                <a:cs typeface="黑体"/>
              </a:rPr>
              <a:t>2.</a:t>
            </a:r>
            <a:r>
              <a:rPr sz="1000" b="1" i="0" u="none" cap="none" spc="0">
                <a:ln>
                  <a:noFill/>
                </a:ln>
                <a:solidFill>
                  <a:srgbClr val="002060"/>
                </a:solidFill>
                <a:latin typeface="黑体"/>
                <a:ea typeface="黑体"/>
                <a:cs typeface="黑体"/>
              </a:rPr>
              <a:t>多维视觉证据融合与混合判定</a:t>
            </a:r>
            <a:r>
              <a:rPr sz="1000" b="1" i="0" u="none" cap="none" spc="0">
                <a:ln>
                  <a:noFill/>
                </a:ln>
                <a:solidFill>
                  <a:srgbClr val="002060"/>
                </a:solidFill>
                <a:latin typeface="黑体"/>
                <a:ea typeface="黑体"/>
                <a:cs typeface="黑体"/>
              </a:rPr>
              <a:t>：</a:t>
            </a:r>
            <a:r>
              <a:rPr sz="1000" b="0" i="0" u="none" cap="none" spc="0">
                <a:ln>
                  <a:noFill/>
                </a:ln>
                <a:solidFill>
                  <a:prstClr val="black"/>
                </a:solidFill>
                <a:latin typeface="黑体"/>
                <a:ea typeface="黑体"/>
                <a:cs typeface="黑体"/>
              </a:rPr>
              <a:t>融合</a:t>
            </a:r>
            <a:r>
              <a:rPr sz="1000" b="0" i="0" u="none" cap="none" spc="0">
                <a:ln>
                  <a:noFill/>
                </a:ln>
                <a:solidFill>
                  <a:prstClr val="black"/>
                </a:solidFill>
                <a:latin typeface="黑体"/>
                <a:ea typeface="黑体"/>
                <a:cs typeface="黑体"/>
              </a:rPr>
              <a:t>26维互补</a:t>
            </a:r>
            <a:r>
              <a:rPr sz="1000" b="0" i="0" u="none" cap="none" spc="0">
                <a:ln>
                  <a:noFill/>
                </a:ln>
                <a:solidFill>
                  <a:prstClr val="black"/>
                </a:solidFill>
                <a:latin typeface="黑体"/>
                <a:ea typeface="黑体"/>
                <a:cs typeface="黑体"/>
              </a:rPr>
              <a:t>视觉</a:t>
            </a:r>
            <a:r>
              <a:rPr sz="1000" b="0" i="0" u="none" cap="none" spc="0">
                <a:ln>
                  <a:noFill/>
                </a:ln>
                <a:solidFill>
                  <a:prstClr val="black"/>
                </a:solidFill>
                <a:latin typeface="黑体"/>
                <a:ea typeface="黑体"/>
                <a:cs typeface="黑体"/>
              </a:rPr>
              <a:t>证据</a:t>
            </a:r>
            <a:r>
              <a:rPr sz="1000" b="0" i="0" u="none" cap="none" spc="0">
                <a:ln>
                  <a:noFill/>
                </a:ln>
                <a:solidFill>
                  <a:prstClr val="black"/>
                </a:solidFill>
                <a:latin typeface="黑体"/>
                <a:ea typeface="黑体"/>
                <a:cs typeface="黑体"/>
              </a:rPr>
              <a:t>，经</a:t>
            </a:r>
            <a:r>
              <a:rPr sz="1000" b="0" i="0" u="none" cap="none" spc="0">
                <a:ln>
                  <a:noFill/>
                </a:ln>
                <a:solidFill>
                  <a:prstClr val="black"/>
                </a:solidFill>
                <a:latin typeface="黑体"/>
                <a:ea typeface="黑体"/>
                <a:cs typeface="黑体"/>
              </a:rPr>
              <a:t>HistGradientBoosting</a:t>
            </a:r>
            <a:r>
              <a:rPr sz="1000" b="0" i="0" u="none" cap="none" spc="0">
                <a:ln>
                  <a:noFill/>
                </a:ln>
                <a:solidFill>
                  <a:prstClr val="black"/>
                </a:solidFill>
                <a:latin typeface="黑体"/>
                <a:ea typeface="黑体"/>
                <a:cs typeface="黑体"/>
              </a:rPr>
              <a:t>学习多维证据间的非</a:t>
            </a:r>
            <a:r>
              <a:rPr sz="1000" b="0" i="0" u="none" cap="none" spc="0">
                <a:ln>
                  <a:noFill/>
                </a:ln>
                <a:solidFill>
                  <a:prstClr val="black"/>
                </a:solidFill>
                <a:latin typeface="黑体"/>
                <a:ea typeface="黑体"/>
                <a:cs typeface="黑体"/>
              </a:rPr>
              <a:t>线性组合关系</a:t>
            </a:r>
            <a:r>
              <a:rPr sz="1000" b="0" i="0" u="none" cap="none" spc="0">
                <a:ln>
                  <a:noFill/>
                </a:ln>
                <a:solidFill>
                  <a:prstClr val="black"/>
                </a:solidFill>
                <a:latin typeface="黑体"/>
                <a:ea typeface="黑体"/>
                <a:cs typeface="黑体"/>
              </a:rPr>
              <a:t>，并</a:t>
            </a:r>
            <a:r>
              <a:rPr sz="1000" b="0" i="0" u="none" cap="none" spc="0">
                <a:ln>
                  <a:noFill/>
                </a:ln>
                <a:solidFill>
                  <a:prstClr val="black"/>
                </a:solidFill>
                <a:latin typeface="黑体"/>
                <a:ea typeface="黑体"/>
                <a:cs typeface="黑体"/>
              </a:rPr>
              <a:t>结合</a:t>
            </a:r>
            <a:r>
              <a:rPr sz="1000" b="0" i="0" u="none" cap="none" spc="0">
                <a:ln>
                  <a:noFill/>
                </a:ln>
                <a:solidFill>
                  <a:prstClr val="black"/>
                </a:solidFill>
                <a:latin typeface="黑体"/>
                <a:ea typeface="黑体"/>
                <a:cs typeface="黑体"/>
              </a:rPr>
              <a:t>五组强</a:t>
            </a:r>
            <a:r>
              <a:rPr sz="1000" b="0" i="0" u="none" cap="none" spc="0">
                <a:ln>
                  <a:noFill/>
                </a:ln>
                <a:solidFill>
                  <a:prstClr val="black"/>
                </a:solidFill>
                <a:latin typeface="黑体"/>
                <a:ea typeface="黑体"/>
                <a:cs typeface="黑体"/>
              </a:rPr>
              <a:t>视觉</a:t>
            </a:r>
            <a:r>
              <a:rPr sz="1000" b="0" i="0" u="none" cap="none" spc="0">
                <a:ln>
                  <a:noFill/>
                </a:ln>
                <a:solidFill>
                  <a:prstClr val="black"/>
                </a:solidFill>
                <a:latin typeface="黑体"/>
                <a:ea typeface="黑体"/>
                <a:cs typeface="黑体"/>
              </a:rPr>
              <a:t>规则</a:t>
            </a:r>
            <a:r>
              <a:rPr sz="1000" b="0" i="0" u="none" cap="none" spc="0">
                <a:ln>
                  <a:noFill/>
                </a:ln>
                <a:solidFill>
                  <a:prstClr val="black"/>
                </a:solidFill>
                <a:latin typeface="黑体"/>
                <a:ea typeface="黑体"/>
                <a:cs typeface="黑体"/>
              </a:rPr>
              <a:t>并联增强</a:t>
            </a:r>
            <a:r>
              <a:rPr sz="1000" b="0" i="0" u="none" cap="none" spc="0">
                <a:ln>
                  <a:noFill/>
                </a:ln>
                <a:solidFill>
                  <a:prstClr val="black"/>
                </a:solidFill>
                <a:latin typeface="黑体"/>
                <a:ea typeface="黑体"/>
                <a:cs typeface="黑体"/>
              </a:rPr>
              <a:t>，形成“</a:t>
            </a:r>
            <a:r>
              <a:rPr sz="1000" b="0" i="0" u="none" cap="none" spc="0">
                <a:ln>
                  <a:noFill/>
                </a:ln>
                <a:solidFill>
                  <a:prstClr val="black"/>
                </a:solidFill>
                <a:latin typeface="黑体"/>
                <a:ea typeface="黑体"/>
                <a:cs typeface="黑体"/>
              </a:rPr>
              <a:t>概率</a:t>
            </a:r>
            <a:r>
              <a:rPr sz="1000" b="0" i="0" u="none" cap="none" spc="0">
                <a:ln>
                  <a:noFill/>
                </a:ln>
                <a:solidFill>
                  <a:prstClr val="black"/>
                </a:solidFill>
                <a:latin typeface="黑体"/>
                <a:ea typeface="黑体"/>
                <a:cs typeface="黑体"/>
              </a:rPr>
              <a:t>模型主判</a:t>
            </a:r>
            <a:r>
              <a:rPr sz="1000" b="0" i="0" u="none" cap="none" spc="0">
                <a:ln>
                  <a:noFill/>
                </a:ln>
                <a:solidFill>
                  <a:prstClr val="black"/>
                </a:solidFill>
                <a:latin typeface="黑体"/>
                <a:ea typeface="黑体"/>
                <a:cs typeface="黑体"/>
              </a:rPr>
              <a:t> </a:t>
            </a:r>
            <a:r>
              <a:rPr sz="1000" b="0" i="0" u="none" cap="none" spc="0">
                <a:ln>
                  <a:noFill/>
                </a:ln>
                <a:solidFill>
                  <a:prstClr val="black"/>
                </a:solidFill>
                <a:latin typeface="黑体"/>
                <a:ea typeface="黑体"/>
                <a:cs typeface="黑体"/>
              </a:rPr>
              <a:t>+</a:t>
            </a:r>
            <a:r>
              <a:rPr sz="1000" b="0" i="0" u="none" cap="none" spc="0">
                <a:ln>
                  <a:noFill/>
                </a:ln>
                <a:solidFill>
                  <a:prstClr val="black"/>
                </a:solidFill>
                <a:latin typeface="黑体"/>
                <a:ea typeface="黑体"/>
                <a:cs typeface="黑体"/>
              </a:rPr>
              <a:t> </a:t>
            </a:r>
            <a:r>
              <a:rPr sz="1000" b="0" i="0" u="none" cap="none" spc="0">
                <a:ln>
                  <a:noFill/>
                </a:ln>
                <a:solidFill>
                  <a:prstClr val="black"/>
                </a:solidFill>
                <a:latin typeface="黑体"/>
                <a:ea typeface="黑体"/>
                <a:cs typeface="黑体"/>
              </a:rPr>
              <a:t>强证据</a:t>
            </a:r>
            <a:r>
              <a:rPr sz="1000" b="0" i="0" u="none" cap="none" spc="0">
                <a:ln>
                  <a:noFill/>
                </a:ln>
                <a:solidFill>
                  <a:prstClr val="black"/>
                </a:solidFill>
                <a:latin typeface="黑体"/>
                <a:ea typeface="黑体"/>
                <a:cs typeface="黑体"/>
              </a:rPr>
              <a:t>规则并联增强”的鲁棒</a:t>
            </a:r>
            <a:r>
              <a:rPr sz="1000" b="0" i="0" u="none" cap="none" spc="0">
                <a:ln>
                  <a:noFill/>
                </a:ln>
                <a:solidFill>
                  <a:prstClr val="black"/>
                </a:solidFill>
                <a:latin typeface="黑体"/>
                <a:ea typeface="黑体"/>
                <a:cs typeface="黑体"/>
              </a:rPr>
              <a:t>判定</a:t>
            </a:r>
            <a:r>
              <a:rPr sz="1000" b="0" i="0" u="none" cap="none" spc="0">
                <a:ln>
                  <a:noFill/>
                </a:ln>
                <a:solidFill>
                  <a:prstClr val="black"/>
                </a:solidFill>
                <a:latin typeface="黑体"/>
                <a:ea typeface="黑体"/>
                <a:cs typeface="黑体"/>
              </a:rPr>
              <a:t>机制</a:t>
            </a:r>
            <a:r>
              <a:rPr sz="1000" b="0" i="0" u="none" cap="none" spc="0">
                <a:ln>
                  <a:noFill/>
                </a:ln>
                <a:solidFill>
                  <a:prstClr val="black"/>
                </a:solidFill>
                <a:latin typeface="黑体"/>
                <a:ea typeface="黑体"/>
                <a:cs typeface="黑体"/>
              </a:rPr>
              <a:t>。</a:t>
            </a:r>
            <a:endParaRPr sz="1000" b="0" i="0" u="none" kern="1200" cap="none" spc="0" baseline="0">
              <a:ln>
                <a:noFill/>
              </a:ln>
              <a:solidFill>
                <a:prstClr val="black"/>
              </a:solidFill>
              <a:latin typeface="黑体"/>
              <a:ea typeface="黑体"/>
              <a:cs typeface="黑体"/>
            </a:endParaRPr>
          </a:p>
          <a:p xmlns:a="http://schemas.openxmlformats.org/drawingml/2006/main">
            <a:pPr marL="0" marR="0" lvl="0" indent="0" algn="just" defTabSz="457200">
              <a:lnSpc>
                <a:spcPct val="100000"/>
              </a:lnSpc>
              <a:spcBef>
                <a:spcPct val="20000"/>
              </a:spcBef>
              <a:spcAft>
                <a:spcPct val="0"/>
              </a:spcAft>
              <a:buClrTx/>
              <a:buSzTx/>
              <a:buFont typeface="Arial"/>
              <a:buNone/>
            </a:pPr>
            <a:r>
              <a:rPr sz="1000" b="1" i="0" u="none" cap="none" spc="0">
                <a:ln>
                  <a:noFill/>
                </a:ln>
                <a:solidFill>
                  <a:srgbClr val="002060"/>
                </a:solidFill>
                <a:latin typeface="黑体"/>
                <a:ea typeface="黑体"/>
                <a:cs typeface="黑体"/>
              </a:rPr>
              <a:t>3.</a:t>
            </a:r>
            <a:r>
              <a:rPr sz="1000" b="1" i="0" u="none" cap="none" spc="0">
                <a:ln>
                  <a:noFill/>
                </a:ln>
                <a:solidFill>
                  <a:srgbClr val="002060"/>
                </a:solidFill>
                <a:latin typeface="黑体"/>
                <a:ea typeface="黑体"/>
                <a:cs typeface="黑体"/>
              </a:rPr>
              <a:t>视觉-业务两阶段解耦与阈值自适应校准</a:t>
            </a:r>
            <a:r>
              <a:rPr sz="1000" b="1" i="0" u="none" cap="none" spc="0">
                <a:ln>
                  <a:noFill/>
                </a:ln>
                <a:solidFill>
                  <a:srgbClr val="002060"/>
                </a:solidFill>
                <a:latin typeface="黑体"/>
                <a:ea typeface="黑体"/>
                <a:cs typeface="黑体"/>
              </a:rPr>
              <a:t>：</a:t>
            </a:r>
            <a:r>
              <a:rPr sz="1000" b="0" i="0" u="none" cap="none" spc="0">
                <a:ln>
                  <a:noFill/>
                </a:ln>
                <a:solidFill>
                  <a:prstClr val="black"/>
                </a:solidFill>
                <a:latin typeface="黑体"/>
                <a:ea typeface="黑体"/>
                <a:cs typeface="黑体"/>
              </a:rPr>
              <a:t>本项目设计视觉相似判断与业务风险分类解耦的双阶段架构：</a:t>
            </a:r>
            <a:r>
              <a:rPr sz="1000" b="0" i="0" u="none" cap="none" spc="0">
                <a:ln>
                  <a:noFill/>
                </a:ln>
                <a:solidFill>
                  <a:prstClr val="black"/>
                </a:solidFill>
                <a:latin typeface="黑体"/>
                <a:ea typeface="黑体"/>
                <a:cs typeface="黑体"/>
              </a:rPr>
              <a:t>Stage1仅依赖视觉证据判断</a:t>
            </a:r>
            <a:r>
              <a:rPr sz="1000" b="0" i="0" u="none" cap="none" spc="0">
                <a:ln>
                  <a:noFill/>
                </a:ln>
                <a:solidFill>
                  <a:prstClr val="black"/>
                </a:solidFill>
                <a:latin typeface="黑体"/>
                <a:ea typeface="黑体"/>
                <a:cs typeface="黑体"/>
              </a:rPr>
              <a:t>面签</a:t>
            </a:r>
            <a:r>
              <a:rPr sz="1000" b="0" i="0" u="none" cap="none" spc="0">
                <a:ln>
                  <a:noFill/>
                </a:ln>
                <a:solidFill>
                  <a:prstClr val="black"/>
                </a:solidFill>
                <a:latin typeface="黑体"/>
                <a:ea typeface="黑体"/>
                <a:cs typeface="黑体"/>
              </a:rPr>
              <a:t>相似</a:t>
            </a:r>
            <a:r>
              <a:rPr sz="1000" b="0" i="0" u="none" cap="none" spc="0">
                <a:ln>
                  <a:noFill/>
                </a:ln>
                <a:solidFill>
                  <a:prstClr val="black"/>
                </a:solidFill>
                <a:latin typeface="黑体"/>
                <a:ea typeface="黑体"/>
                <a:cs typeface="黑体"/>
              </a:rPr>
              <a:t>度，</a:t>
            </a:r>
            <a:r>
              <a:rPr sz="1000" b="0" i="0" u="none" cap="none" spc="0">
                <a:ln>
                  <a:noFill/>
                </a:ln>
                <a:solidFill>
                  <a:prstClr val="black"/>
                </a:solidFill>
                <a:latin typeface="黑体"/>
                <a:ea typeface="黑体"/>
                <a:cs typeface="黑体"/>
              </a:rPr>
              <a:t>Stage2融合身份规则与逻辑回归进行风险分类；</a:t>
            </a:r>
            <a:r>
              <a:rPr sz="1000" b="0" i="0" u="none" cap="none" spc="0">
                <a:ln>
                  <a:noFill/>
                </a:ln>
                <a:solidFill>
                  <a:prstClr val="black"/>
                </a:solidFill>
                <a:latin typeface="黑体"/>
                <a:ea typeface="黑体"/>
                <a:cs typeface="黑体"/>
              </a:rPr>
              <a:t>并</a:t>
            </a:r>
            <a:r>
              <a:rPr sz="1000" b="0" i="0" u="none" cap="none" spc="0">
                <a:ln>
                  <a:noFill/>
                </a:ln>
                <a:solidFill>
                  <a:prstClr val="black"/>
                </a:solidFill>
                <a:latin typeface="黑体"/>
                <a:ea typeface="黑体"/>
                <a:cs typeface="黑体"/>
              </a:rPr>
              <a:t>基于验证集网格搜索自动优化业务阈值，替代固定经验设定，实现风险判定的可复现与可审计</a:t>
            </a:r>
            <a:r>
              <a:rPr sz="1000" b="0" i="0" u="none" cap="none" spc="0">
                <a:ln>
                  <a:noFill/>
                </a:ln>
                <a:solidFill>
                  <a:prstClr val="black"/>
                </a:solidFill>
                <a:latin typeface="黑体"/>
                <a:ea typeface="黑体"/>
                <a:cs typeface="黑体"/>
              </a:rPr>
              <a:t>。</a:t>
            </a:r>
            <a:endParaRPr sz="1000" b="1" i="0" u="none" kern="1200" cap="none" spc="0" baseline="0">
              <a:ln>
                <a:noFill/>
              </a:ln>
              <a:solidFill>
                <a:prstClr val="black"/>
              </a:solidFill>
              <a:latin typeface="黑体"/>
              <a:ea typeface="黑体"/>
              <a:cs typeface="黑体"/>
            </a:endParaRPr>
          </a:p>
        </p:txBody>
      </p:sp>
      <p:sp>
        <p:nvSpPr>
          <p:cNvPr id="23" name="文本框 22">
            <a:extLst xmlns:a="http://schemas.openxmlformats.org/drawingml/2006/main">
              <a:ext uri="{FF2B5EF4-FFF2-40B4-BE49-F238E27FC236}">
                <a16:creationId xmlns:a16="http://schemas.microsoft.com/office/drawing/2014/main" id="{205AC3DE-9C1C-1006-45DE-58735A3722E5}"/>
              </a:ext>
            </a:extLst>
          </p:cNvPr>
          <p:cNvSpPr>
            <a:spLocks xmlns:a="http://schemas.openxmlformats.org/drawingml/2006/main" noGrp="1"/>
          </p:cNvSpPr>
          <p:nvPr/>
        </p:nvSpPr>
        <p:spPr>
          <a:xfrm xmlns:a="http://schemas.openxmlformats.org/drawingml/2006/main">
            <a:off x="171609" y="5446921"/>
            <a:ext cx="430887" cy="1022852"/>
          </a:xfrm>
          <a:prstGeom xmlns:a="http://schemas.openxmlformats.org/drawingml/2006/main" prst="rect">
            <a:avLst/>
          </a:prstGeom>
          <a:noFill xmlns:a="http://schemas.openxmlformats.org/drawingml/2006/main"/>
        </p:spPr>
        <p:txBody>
          <a:bodyPr xmlns:a="http://schemas.openxmlformats.org/drawingml/2006/main" vert="eaVert" wrap="square" lIns="0" tIns="0" rIns="0" bIns="0">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400" b="1" i="0" u="none" cap="none" spc="0">
                <a:ln>
                  <a:noFill/>
                </a:ln>
                <a:solidFill>
                  <a:prstClr val="black"/>
                </a:solidFill>
                <a:latin typeface="黑体"/>
                <a:ea typeface="黑体"/>
                <a:cs typeface="黑体"/>
              </a:rPr>
              <a:t>来改进方案</a:t>
            </a:r>
            <a:endParaRPr sz="1400" b="1" i="0" u="none" kern="1200" cap="none" spc="0" baseline="0">
              <a:ln>
                <a:noFill/>
              </a:ln>
              <a:solidFill>
                <a:prstClr val="black"/>
              </a:solidFill>
              <a:latin typeface="黑体"/>
              <a:ea typeface="黑体"/>
              <a:cs typeface="黑体"/>
            </a:endParaRPr>
          </a:p>
          <a:p xmlns:a="http://schemas.openxmlformats.org/drawingml/2006/main">
            <a:pPr marL="0" marR="0" lvl="0" indent="0" algn="l" defTabSz="914400">
              <a:lnSpc>
                <a:spcPct val="100000"/>
              </a:lnSpc>
              <a:spcBef>
                <a:spcPts val="0"/>
              </a:spcBef>
              <a:spcAft>
                <a:spcPts val="0"/>
              </a:spcAft>
              <a:buClrTx/>
              <a:buSzTx/>
              <a:buFontTx/>
              <a:buNone/>
            </a:pPr>
            <a:r>
              <a:rPr sz="1400" b="1" i="0" u="none" cap="none" spc="0">
                <a:ln>
                  <a:noFill/>
                </a:ln>
                <a:solidFill>
                  <a:prstClr val="black"/>
                </a:solidFill>
                <a:latin typeface="黑体"/>
                <a:ea typeface="黑体"/>
                <a:cs typeface="黑体"/>
              </a:rPr>
              <a:t>缺点以及未</a:t>
            </a:r>
          </a:p>
        </p:txBody>
      </p:sp>
      <p:sp>
        <p:nvSpPr>
          <p:cNvPr id="25" name="矩形 24">
            <a:extLst xmlns:a="http://schemas.openxmlformats.org/drawingml/2006/main">
              <a:ext uri="{FF2B5EF4-FFF2-40B4-BE49-F238E27FC236}">
                <a16:creationId xmlns:a16="http://schemas.microsoft.com/office/drawing/2014/main" id="{C52F15DD-DBAA-9B6F-FA6A-DDC11679332C}"/>
              </a:ext>
            </a:extLst>
          </p:cNvPr>
          <p:cNvSpPr>
            <a:spLocks xmlns:a="http://schemas.openxmlformats.org/drawingml/2006/main" noGrp="1"/>
          </p:cNvSpPr>
          <p:nvPr/>
        </p:nvSpPr>
        <p:spPr>
          <a:xfrm xmlns:a="http://schemas.openxmlformats.org/drawingml/2006/main">
            <a:off x="117183" y="497380"/>
            <a:ext cx="4791831" cy="1583213"/>
          </a:xfrm>
          <a:prstGeom xmlns:a="http://schemas.openxmlformats.org/drawingml/2006/main" prst="rect">
            <a:avLst/>
          </a:prstGeom>
          <a:solidFill xmlns:a="http://schemas.openxmlformats.org/drawingml/2006/main">
            <a:srgbClr val="F2F2F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等线"/>
              <a:ea typeface="等线"/>
              <a:cs typeface="等线"/>
            </a:endParaRPr>
          </a:p>
        </p:txBody>
      </p:sp>
      <p:sp>
        <p:nvSpPr>
          <p:cNvPr id="28" name="矩形 27">
            <a:extLst xmlns:a="http://schemas.openxmlformats.org/drawingml/2006/main">
              <a:ext uri="{FF2B5EF4-FFF2-40B4-BE49-F238E27FC236}">
                <a16:creationId xmlns:a16="http://schemas.microsoft.com/office/drawing/2014/main" id="{9FB428B2-D9A3-D6A8-935D-F3A4C0003B25}"/>
              </a:ext>
            </a:extLst>
          </p:cNvPr>
          <p:cNvSpPr>
            <a:spLocks xmlns:a="http://schemas.openxmlformats.org/drawingml/2006/main" noGrp="1"/>
          </p:cNvSpPr>
          <p:nvPr/>
        </p:nvSpPr>
        <p:spPr>
          <a:xfrm xmlns:a="http://schemas.openxmlformats.org/drawingml/2006/main">
            <a:off x="5048149" y="509113"/>
            <a:ext cx="6993949" cy="4809918"/>
          </a:xfrm>
          <a:prstGeom xmlns:a="http://schemas.openxmlformats.org/drawingml/2006/main" prst="rect">
            <a:avLst/>
          </a:prstGeom>
          <a:solidFill xmlns:a="http://schemas.openxmlformats.org/drawingml/2006/main">
            <a:srgbClr val="E8F0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等线"/>
              <a:ea typeface="等线"/>
              <a:cs typeface="等线"/>
            </a:endParaRPr>
          </a:p>
        </p:txBody>
      </p:sp>
      <p:sp>
        <p:nvSpPr>
          <p:cNvPr id="32" name="文本占位符 11">
            <a:extLst xmlns:a="http://schemas.openxmlformats.org/drawingml/2006/main">
              <a:ext uri="{FF2B5EF4-FFF2-40B4-BE49-F238E27FC236}">
                <a16:creationId xmlns:a16="http://schemas.microsoft.com/office/drawing/2014/main" id="{8A6207DF-1EFA-79CA-9CFB-1874B4A8B206}"/>
              </a:ext>
            </a:extLst>
          </p:cNvPr>
          <p:cNvSpPr>
            <a:spLocks xmlns:a="http://schemas.openxmlformats.org/drawingml/2006/main" noGrp="1"/>
          </p:cNvSpPr>
          <p:nvPr/>
        </p:nvSpPr>
        <p:spPr>
          <a:xfrm xmlns:a="http://schemas.openxmlformats.org/drawingml/2006/main">
            <a:off x="8940826" y="557635"/>
            <a:ext cx="3147815" cy="264183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a:lstStyle xmlns:a="http://schemas.openxmlformats.org/drawingml/2006/main">
            <a:lvl1pPr marL="0" indent="0" algn="l" defTabSz="457200">
              <a:spcBef>
                <a:spcPct val="20000"/>
              </a:spcBef>
              <a:spcAft>
                <a:spcPct val="0"/>
              </a:spcAft>
              <a:buFont typeface="Arial"/>
              <a:buNone/>
              <a:defRPr sz="900" kern="1200">
                <a:solidFill>
                  <a:schemeClr val="tx2"/>
                </a:solidFill>
                <a:latin typeface="Times New Roman"/>
                <a:ea typeface="Times New Roman"/>
                <a:cs typeface="Times New Roman"/>
              </a:defRPr>
            </a:lvl1pPr>
            <a:lvl2pPr marL="742950" indent="-285750" algn="l" defTabSz="457200">
              <a:spcBef>
                <a:spcPct val="20000"/>
              </a:spcBef>
              <a:spcAft>
                <a:spcPct val="0"/>
              </a:spcAft>
              <a:buFont typeface="Arial"/>
              <a:buChar char="–"/>
              <a:defRPr sz="2800" kern="1200">
                <a:solidFill>
                  <a:schemeClr val="tx1"/>
                </a:solidFill>
                <a:latin typeface="Arial"/>
                <a:ea typeface="Arial"/>
                <a:cs typeface="Arial"/>
              </a:defRPr>
            </a:lvl2pPr>
            <a:lvl3pPr marL="1143000" indent="-228600" algn="l" defTabSz="457200">
              <a:spcBef>
                <a:spcPct val="20000"/>
              </a:spcBef>
              <a:spcAft>
                <a:spcPct val="0"/>
              </a:spcAft>
              <a:buFont typeface="Arial"/>
              <a:buChar char="•"/>
              <a:defRPr sz="2400" kern="1200">
                <a:solidFill>
                  <a:schemeClr val="tx1"/>
                </a:solidFill>
                <a:latin typeface="Arial"/>
                <a:ea typeface="Arial"/>
                <a:cs typeface="Arial"/>
              </a:defRPr>
            </a:lvl3pPr>
            <a:lvl4pPr marL="1600200" indent="-228600" algn="l" defTabSz="457200">
              <a:spcBef>
                <a:spcPct val="20000"/>
              </a:spcBef>
              <a:spcAft>
                <a:spcPct val="0"/>
              </a:spcAft>
              <a:buFont typeface="Arial"/>
              <a:buChar char="–"/>
              <a:defRPr sz="2000" kern="1200">
                <a:solidFill>
                  <a:schemeClr val="tx1"/>
                </a:solidFill>
                <a:latin typeface="Arial"/>
                <a:ea typeface="Arial"/>
                <a:cs typeface="Arial"/>
              </a:defRPr>
            </a:lvl4pPr>
            <a:lvl5pPr marL="2057400" indent="-228600" algn="l" defTabSz="457200">
              <a:spcBef>
                <a:spcPct val="20000"/>
              </a:spcBef>
              <a:spcAft>
                <a:spcPct val="0"/>
              </a:spcAft>
              <a:buFont typeface="Arial"/>
              <a:buChar char="»"/>
              <a:defRPr sz="2000" kern="1200">
                <a:solidFill>
                  <a:schemeClr val="tx1"/>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a:lstStyle>
          <a:p xmlns:a="http://schemas.openxmlformats.org/drawingml/2006/main">
            <a:pPr marL="0" marR="0" lvl="0" indent="0" algn="just" defTabSz="457200">
              <a:lnSpc>
                <a:spcPct val="100000"/>
              </a:lnSpc>
              <a:spcBef>
                <a:spcPct val="20000"/>
              </a:spcBef>
              <a:spcAft>
                <a:spcPct val="0"/>
              </a:spcAft>
              <a:buClrTx/>
              <a:buSzTx/>
              <a:buFont typeface="Arial"/>
              <a:buNone/>
            </a:pPr>
            <a:r>
              <a:rPr sz="1000" b="1" i="0" u="none" cap="none" spc="0">
                <a:ln>
                  <a:noFill/>
                </a:ln>
                <a:solidFill>
                  <a:prstClr val="white"/>
                </a:solidFill>
                <a:highlight>
                  <a:srgbClr val="008000"/>
                </a:highlight>
                <a:latin typeface="黑体"/>
                <a:ea typeface="黑体"/>
                <a:cs typeface="黑体"/>
              </a:rPr>
              <a:t>一、</a:t>
            </a:r>
            <a:r>
              <a:rPr sz="1000" b="1" i="0" u="none" cap="none" spc="0">
                <a:ln>
                  <a:noFill/>
                </a:ln>
                <a:solidFill>
                  <a:prstClr val="white"/>
                </a:solidFill>
                <a:highlight>
                  <a:srgbClr val="008000"/>
                </a:highlight>
                <a:latin typeface="黑体"/>
                <a:ea typeface="黑体"/>
                <a:cs typeface="黑体"/>
              </a:rPr>
              <a:t>数据构建层：</a:t>
            </a:r>
            <a:r>
              <a:rPr sz="1000" b="1" i="0" u="none" cap="none" spc="0">
                <a:ln>
                  <a:noFill/>
                </a:ln>
                <a:solidFill>
                  <a:srgbClr val="222222"/>
                </a:solidFill>
                <a:latin typeface="黑体"/>
                <a:ea typeface="黑体"/>
                <a:cs typeface="黑体"/>
              </a:rPr>
              <a:t>同分布样本扩展，解决小样本下风险场景覆盖不足问题</a:t>
            </a:r>
            <a:endParaRPr sz="1000" b="1" i="0" u="none" kern="1200" cap="none" spc="0" baseline="0">
              <a:ln>
                <a:noFill/>
              </a:ln>
              <a:solidFill>
                <a:srgbClr val="222222"/>
              </a:solidFill>
              <a:latin typeface="黑体"/>
              <a:ea typeface="黑体"/>
              <a:cs typeface="黑体"/>
            </a:endParaRPr>
          </a:p>
          <a:p xmlns:a="http://schemas.openxmlformats.org/drawingml/2006/main">
            <a:pPr marL="0" marR="0" lvl="0" indent="0" algn="just" defTabSz="457200">
              <a:lnSpc>
                <a:spcPct val="100000"/>
              </a:lnSpc>
              <a:spcBef>
                <a:spcPct val="20000"/>
              </a:spcBef>
              <a:spcAft>
                <a:spcPct val="0"/>
              </a:spcAft>
              <a:buClrTx/>
              <a:buSzTx/>
              <a:buFont typeface="Arial"/>
              <a:buNone/>
            </a:pPr>
            <a:r>
              <a:rPr sz="950" b="0" i="0" u="none" cap="none" spc="0">
                <a:ln>
                  <a:noFill/>
                </a:ln>
                <a:solidFill>
                  <a:srgbClr val="222222"/>
                </a:solidFill>
                <a:latin typeface="黑体"/>
                <a:ea typeface="黑体"/>
                <a:cs typeface="黑体"/>
              </a:rPr>
              <a:t>    在保持原始业务分布特征的基础上，</a:t>
            </a:r>
            <a:r>
              <a:rPr sz="950" b="0" i="0" u="none" cap="none" spc="0">
                <a:ln>
                  <a:noFill/>
                </a:ln>
                <a:solidFill>
                  <a:prstClr val="black"/>
                </a:solidFill>
                <a:latin typeface="黑体"/>
                <a:ea typeface="黑体"/>
                <a:cs typeface="黑体"/>
              </a:rPr>
              <a:t>将原始赛题样本库扩展至3254组业务、16270张影像，</a:t>
            </a:r>
            <a:r>
              <a:rPr sz="950" b="1" i="0" u="none" cap="none" spc="0">
                <a:ln>
                  <a:noFill/>
                </a:ln>
                <a:solidFill>
                  <a:prstClr val="black"/>
                </a:solidFill>
                <a:latin typeface="黑体"/>
                <a:ea typeface="黑体"/>
                <a:cs typeface="黑体"/>
              </a:rPr>
              <a:t>数据规模提升44倍</a:t>
            </a:r>
            <a:r>
              <a:rPr sz="950" b="0" i="0" u="none" cap="none" spc="0">
                <a:ln>
                  <a:noFill/>
                </a:ln>
                <a:solidFill>
                  <a:prstClr val="black"/>
                </a:solidFill>
                <a:latin typeface="黑体"/>
                <a:ea typeface="黑体"/>
                <a:cs typeface="黑体"/>
              </a:rPr>
              <a:t>。同时，围绕真实信贷业务构造</a:t>
            </a:r>
            <a:r>
              <a:rPr sz="950" b="1" i="0" u="none" cap="none" spc="0">
                <a:ln>
                  <a:noFill/>
                </a:ln>
                <a:solidFill>
                  <a:prstClr val="black"/>
                </a:solidFill>
                <a:latin typeface="黑体"/>
                <a:ea typeface="黑体"/>
                <a:cs typeface="黑体"/>
              </a:rPr>
              <a:t>两类关键场景</a:t>
            </a:r>
            <a:r>
              <a:rPr sz="950" b="0" i="0" u="none" cap="none" spc="0">
                <a:ln>
                  <a:noFill/>
                </a:ln>
                <a:solidFill>
                  <a:prstClr val="black"/>
                </a:solidFill>
                <a:latin typeface="黑体"/>
                <a:ea typeface="黑体"/>
                <a:cs typeface="黑体"/>
              </a:rPr>
              <a:t>：“同客户多笔授信”</a:t>
            </a:r>
            <a:r>
              <a:rPr sz="950" b="0" i="0" u="none" cap="none" spc="0">
                <a:ln>
                  <a:noFill/>
                </a:ln>
                <a:solidFill>
                  <a:prstClr val="black"/>
                </a:solidFill>
                <a:latin typeface="黑体"/>
                <a:ea typeface="黑体"/>
                <a:cs typeface="黑体"/>
              </a:rPr>
              <a:t>（场景/衣着变化）和</a:t>
            </a:r>
            <a:r>
              <a:rPr sz="950" b="0" i="0" u="none" cap="none" spc="0">
                <a:ln>
                  <a:noFill/>
                </a:ln>
                <a:solidFill>
                  <a:prstClr val="black"/>
                </a:solidFill>
                <a:latin typeface="黑体"/>
                <a:ea typeface="黑体"/>
                <a:cs typeface="黑体"/>
              </a:rPr>
              <a:t>“同客户重复</a:t>
            </a:r>
            <a:r>
              <a:rPr sz="950" b="0" i="0" u="none" cap="none" spc="0">
                <a:ln>
                  <a:noFill/>
                </a:ln>
                <a:solidFill>
                  <a:srgbClr val="222222"/>
                </a:solidFill>
                <a:latin typeface="黑体"/>
                <a:ea typeface="黑体"/>
                <a:cs typeface="黑体"/>
              </a:rPr>
              <a:t>使用”（与历史面签高度相似）。提升模型对真实业务风险模式的学习能力，并降低小样本条件下的过拟合风险。</a:t>
            </a:r>
          </a:p>
          <a:p xmlns:a="http://schemas.openxmlformats.org/drawingml/2006/main">
            <a:pPr marL="0" marR="0" lvl="0" indent="0" algn="just" defTabSz="457200">
              <a:lnSpc>
                <a:spcPct val="100000"/>
              </a:lnSpc>
              <a:spcBef>
                <a:spcPct val="20000"/>
              </a:spcBef>
              <a:spcAft>
                <a:spcPct val="0"/>
              </a:spcAft>
              <a:buClrTx/>
              <a:buSzTx/>
              <a:buFont typeface="Arial"/>
              <a:buNone/>
            </a:pPr>
            <a:r>
              <a:rPr sz="1000" b="1" i="0" u="none" cap="none" spc="0">
                <a:ln>
                  <a:noFill/>
                </a:ln>
                <a:solidFill>
                  <a:prstClr val="white"/>
                </a:solidFill>
                <a:highlight>
                  <a:srgbClr val="008000"/>
                </a:highlight>
                <a:latin typeface="黑体"/>
                <a:ea typeface="黑体"/>
                <a:cs typeface="黑体"/>
              </a:rPr>
              <a:t>二、</a:t>
            </a:r>
            <a:r>
              <a:rPr sz="1000" b="1" i="0" u="none" cap="none" spc="0">
                <a:ln>
                  <a:noFill/>
                </a:ln>
                <a:solidFill>
                  <a:prstClr val="white"/>
                </a:solidFill>
                <a:highlight>
                  <a:srgbClr val="008000"/>
                </a:highlight>
                <a:latin typeface="黑体"/>
                <a:ea typeface="黑体"/>
                <a:cs typeface="黑体"/>
              </a:rPr>
              <a:t>语义检索层：</a:t>
            </a:r>
            <a:r>
              <a:rPr sz="1000" b="1" i="0" u="none" cap="none" spc="0">
                <a:ln>
                  <a:noFill/>
                </a:ln>
                <a:solidFill>
                  <a:srgbClr val="222222"/>
                </a:solidFill>
                <a:latin typeface="黑体"/>
                <a:ea typeface="黑体"/>
                <a:cs typeface="黑体"/>
              </a:rPr>
              <a:t>SigLIP2</a:t>
            </a:r>
            <a:r>
              <a:rPr sz="1000" b="1" i="0" u="none" cap="none" spc="0">
                <a:ln>
                  <a:noFill/>
                </a:ln>
                <a:solidFill>
                  <a:srgbClr val="222222"/>
                </a:solidFill>
                <a:latin typeface="黑体"/>
                <a:ea typeface="黑体"/>
                <a:cs typeface="黑体"/>
              </a:rPr>
              <a:t>特征表征与</a:t>
            </a:r>
            <a:r>
              <a:rPr sz="1000" b="1" i="0" u="none" cap="none" spc="0">
                <a:ln>
                  <a:noFill/>
                </a:ln>
                <a:solidFill>
                  <a:srgbClr val="222222"/>
                </a:solidFill>
                <a:latin typeface="黑体"/>
                <a:ea typeface="黑体"/>
                <a:cs typeface="黑体"/>
              </a:rPr>
              <a:t>FAISS</a:t>
            </a:r>
            <a:r>
              <a:rPr sz="1000" b="1" i="0" u="none" cap="none" spc="0">
                <a:ln>
                  <a:noFill/>
                </a:ln>
                <a:solidFill>
                  <a:srgbClr val="222222"/>
                </a:solidFill>
                <a:latin typeface="黑体"/>
                <a:ea typeface="黑体"/>
                <a:cs typeface="黑体"/>
              </a:rPr>
              <a:t>向量召回，解决海量影像快速定位问题</a:t>
            </a:r>
          </a:p>
          <a:p xmlns:a="http://schemas.openxmlformats.org/drawingml/2006/main">
            <a:pPr marL="0" marR="0" lvl="0" indent="0" algn="just" defTabSz="457200">
              <a:lnSpc>
                <a:spcPct val="100000"/>
              </a:lnSpc>
              <a:spcBef>
                <a:spcPct val="20000"/>
              </a:spcBef>
              <a:spcAft>
                <a:spcPct val="0"/>
              </a:spcAft>
              <a:buClrTx/>
              <a:buSzTx/>
              <a:buFont typeface="Arial"/>
              <a:buNone/>
            </a:pPr>
            <a:r>
              <a:rPr sz="950" b="0" i="0" u="none" cap="none" spc="0">
                <a:ln>
                  <a:noFill/>
                </a:ln>
                <a:solidFill>
                  <a:srgbClr val="222222"/>
                </a:solidFill>
                <a:latin typeface="黑体"/>
                <a:ea typeface="黑体"/>
                <a:cs typeface="黑体"/>
              </a:rPr>
              <a:t>    采用</a:t>
            </a:r>
            <a:r>
              <a:rPr sz="950" b="1" i="0" u="none" cap="none" spc="0">
                <a:ln>
                  <a:noFill/>
                </a:ln>
                <a:solidFill>
                  <a:srgbClr val="222222"/>
                </a:solidFill>
                <a:latin typeface="黑体"/>
                <a:ea typeface="黑体"/>
                <a:cs typeface="黑体"/>
              </a:rPr>
              <a:t>SigLIP2</a:t>
            </a:r>
            <a:r>
              <a:rPr sz="950" b="1" i="0" u="none" cap="none" spc="0">
                <a:ln>
                  <a:noFill/>
                </a:ln>
                <a:solidFill>
                  <a:srgbClr val="222222"/>
                </a:solidFill>
                <a:latin typeface="黑体"/>
                <a:ea typeface="黑体"/>
                <a:cs typeface="黑体"/>
              </a:rPr>
              <a:t>进行</a:t>
            </a:r>
            <a:r>
              <a:rPr sz="950" b="0" i="0" u="none" cap="none" spc="0">
                <a:ln>
                  <a:noFill/>
                </a:ln>
                <a:solidFill>
                  <a:srgbClr val="222222"/>
                </a:solidFill>
                <a:latin typeface="黑体"/>
                <a:ea typeface="黑体"/>
                <a:cs typeface="黑体"/>
              </a:rPr>
              <a:t>视觉语义编码，</a:t>
            </a:r>
            <a:r>
              <a:rPr sz="950" b="0" i="0" u="none" cap="none" spc="0">
                <a:ln>
                  <a:noFill/>
                </a:ln>
                <a:solidFill>
                  <a:prstClr val="black"/>
                </a:solidFill>
                <a:latin typeface="黑体"/>
                <a:ea typeface="黑体"/>
                <a:cs typeface="黑体"/>
              </a:rPr>
              <a:t>将全量金融影像映射到统一语义空间，结合影像类别信息实现</a:t>
            </a:r>
            <a:r>
              <a:rPr sz="950" b="1" i="0" u="none" cap="none" spc="0">
                <a:ln>
                  <a:noFill/>
                </a:ln>
                <a:solidFill>
                  <a:prstClr val="black"/>
                </a:solidFill>
                <a:latin typeface="黑体"/>
                <a:ea typeface="黑体"/>
                <a:cs typeface="黑体"/>
              </a:rPr>
              <a:t>“先筛选、后比较”</a:t>
            </a:r>
            <a:r>
              <a:rPr sz="950" b="0" i="0" u="none" cap="none" spc="0">
                <a:ln>
                  <a:noFill/>
                </a:ln>
                <a:solidFill>
                  <a:prstClr val="black"/>
                </a:solidFill>
                <a:latin typeface="黑体"/>
                <a:ea typeface="黑体"/>
                <a:cs typeface="黑体"/>
              </a:rPr>
              <a:t>，从16270张全量资料中精准定位3254张面签照片</a:t>
            </a:r>
            <a:r>
              <a:rPr sz="950" b="0" i="0" u="none" cap="none" spc="0">
                <a:ln>
                  <a:noFill/>
                </a:ln>
                <a:solidFill>
                  <a:prstClr val="black"/>
                </a:solidFill>
                <a:latin typeface="黑体"/>
                <a:ea typeface="黑体"/>
                <a:cs typeface="黑体"/>
              </a:rPr>
              <a:t>；进一步利用</a:t>
            </a:r>
            <a:r>
              <a:rPr sz="950" b="1" i="0" u="none" cap="none" spc="0">
                <a:ln>
                  <a:noFill/>
                </a:ln>
                <a:solidFill>
                  <a:prstClr val="black"/>
                </a:solidFill>
                <a:latin typeface="黑体"/>
                <a:ea typeface="黑体"/>
                <a:cs typeface="黑体"/>
              </a:rPr>
              <a:t>FAISS</a:t>
            </a:r>
            <a:r>
              <a:rPr sz="950" b="0" i="0" u="none" cap="none" spc="0">
                <a:ln>
                  <a:noFill/>
                </a:ln>
                <a:solidFill>
                  <a:prstClr val="black"/>
                </a:solidFill>
                <a:latin typeface="黑体"/>
                <a:ea typeface="黑体"/>
                <a:cs typeface="黑体"/>
              </a:rPr>
              <a:t>构建向量索引，通过</a:t>
            </a:r>
            <a:r>
              <a:rPr sz="950" b="1" i="0" u="none" cap="none" spc="0">
                <a:ln>
                  <a:noFill/>
                </a:ln>
                <a:solidFill>
                  <a:srgbClr val="222222"/>
                </a:solidFill>
                <a:latin typeface="黑体"/>
                <a:ea typeface="黑体"/>
                <a:cs typeface="黑体"/>
              </a:rPr>
              <a:t>Top-K（K=10）</a:t>
            </a:r>
            <a:r>
              <a:rPr sz="950" b="0" i="0" u="none" cap="none" spc="0">
                <a:ln>
                  <a:noFill/>
                </a:ln>
                <a:solidFill>
                  <a:srgbClr val="222222"/>
                </a:solidFill>
                <a:latin typeface="黑体"/>
                <a:ea typeface="黑体"/>
                <a:cs typeface="黑体"/>
              </a:rPr>
              <a:t>近邻搜索</a:t>
            </a:r>
            <a:r>
              <a:rPr sz="950" b="0" i="0" u="none" cap="none" spc="0">
                <a:ln>
                  <a:noFill/>
                </a:ln>
                <a:solidFill>
                  <a:srgbClr val="222222"/>
                </a:solidFill>
                <a:latin typeface="黑体"/>
                <a:ea typeface="黑体"/>
                <a:cs typeface="黑体"/>
              </a:rPr>
              <a:t>快速召回潜在相似候选</a:t>
            </a:r>
            <a:r>
              <a:rPr sz="950" b="0" i="0" u="none" cap="none" spc="0">
                <a:ln>
                  <a:noFill/>
                </a:ln>
                <a:solidFill>
                  <a:srgbClr val="222222"/>
                </a:solidFill>
                <a:latin typeface="黑体"/>
                <a:ea typeface="黑体"/>
                <a:cs typeface="黑体"/>
              </a:rPr>
              <a:t>，实测</a:t>
            </a:r>
            <a:r>
              <a:rPr sz="950" b="1" i="0" u="none" cap="none" spc="0">
                <a:ln>
                  <a:noFill/>
                </a:ln>
                <a:solidFill>
                  <a:srgbClr val="222222"/>
                </a:solidFill>
                <a:latin typeface="黑体"/>
                <a:ea typeface="黑体"/>
                <a:cs typeface="黑体"/>
              </a:rPr>
              <a:t>候选召回率＞99%</a:t>
            </a:r>
            <a:r>
              <a:rPr sz="950" b="0" i="0" u="none" cap="none" spc="0">
                <a:ln>
                  <a:noFill/>
                </a:ln>
                <a:solidFill>
                  <a:srgbClr val="222222"/>
                </a:solidFill>
                <a:latin typeface="黑体"/>
                <a:ea typeface="黑体"/>
                <a:cs typeface="黑体"/>
              </a:rPr>
              <a:t>，</a:t>
            </a:r>
            <a:r>
              <a:rPr sz="950" b="0" i="0" u="none" cap="none" spc="0">
                <a:ln>
                  <a:noFill/>
                </a:ln>
                <a:solidFill>
                  <a:srgbClr val="222222"/>
                </a:solidFill>
                <a:latin typeface="黑体"/>
                <a:ea typeface="黑体"/>
                <a:cs typeface="黑体"/>
              </a:rPr>
              <a:t>在避免全量两两比对的同时提升检索效率</a:t>
            </a:r>
            <a:r>
              <a:rPr sz="950" b="0" i="0" u="none" cap="none" spc="0">
                <a:ln>
                  <a:noFill/>
                </a:ln>
                <a:solidFill>
                  <a:srgbClr val="222222"/>
                </a:solidFill>
                <a:latin typeface="黑体"/>
                <a:ea typeface="黑体"/>
                <a:cs typeface="黑体"/>
              </a:rPr>
              <a:t>，实现“效率高、漏报低”的工程目标。</a:t>
            </a:r>
          </a:p>
        </p:txBody>
      </p:sp>
      <p:pic>
        <p:nvPicPr>
          <p:cNvPr id="278" name="图片 17"/>
          <p:cNvPicPr>
            <a:picLocks xmlns:a="http://schemas.openxmlformats.org/drawingml/2006/main" noChangeAspect="1"/>
          </p:cNvPicPr>
          <p:nvPr/>
        </p:nvPicPr>
        <p:blipFill>
          <a:blip xmlns:r="http://schemas.openxmlformats.org/officeDocument/2006/relationships" xmlns:a="http://schemas.openxmlformats.org/drawingml/2006/main" r:embed="Rbab21566c23c458a"/>
          <a:stretch xmlns:a="http://schemas.openxmlformats.org/drawingml/2006/main">
            <a:fillRect l="0" t="0" r="0" b="0"/>
          </a:stretch>
        </p:blipFill>
        <p:spPr>
          <a:xfrm xmlns:a="http://schemas.openxmlformats.org/drawingml/2006/main">
            <a:off x="4576952" y="5036026"/>
            <a:ext cx="332064" cy="250074"/>
          </a:xfrm>
          <a:prstGeom xmlns:a="http://schemas.openxmlformats.org/drawingml/2006/main" prst="rect">
            <a:avLst/>
          </a:prstGeom>
        </p:spPr>
      </p:pic>
      <p:sp>
        <p:nvSpPr>
          <p:cNvPr id="7" name="矩形 6">
            <a:extLst xmlns:a="http://schemas.openxmlformats.org/drawingml/2006/main">
              <a:ext uri="{FF2B5EF4-FFF2-40B4-BE49-F238E27FC236}">
                <a16:creationId xmlns:a16="http://schemas.microsoft.com/office/drawing/2014/main" id="{627D085F-D246-10A9-1713-19DDB592250A}"/>
              </a:ext>
            </a:extLst>
          </p:cNvPr>
          <p:cNvSpPr>
            <a:spLocks xmlns:a="http://schemas.openxmlformats.org/drawingml/2006/main" noGrp="1"/>
          </p:cNvSpPr>
          <p:nvPr/>
        </p:nvSpPr>
        <p:spPr>
          <a:xfrm xmlns:a="http://schemas.openxmlformats.org/drawingml/2006/main">
            <a:off x="117184" y="2145510"/>
            <a:ext cx="4791832" cy="2028706"/>
          </a:xfrm>
          <a:prstGeom xmlns:a="http://schemas.openxmlformats.org/drawingml/2006/main" prst="rect">
            <a:avLst/>
          </a:prstGeom>
          <a:solidFill xmlns:a="http://schemas.openxmlformats.org/drawingml/2006/main">
            <a:srgbClr val="FFF7F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等线"/>
              <a:ea typeface="等线"/>
              <a:cs typeface="等线"/>
            </a:endParaRPr>
          </a:p>
        </p:txBody>
      </p:sp>
      <p:pic>
        <p:nvPicPr>
          <p:cNvPr id="280" name="图片 18"/>
          <p:cNvPicPr>
            <a:picLocks xmlns:a="http://schemas.openxmlformats.org/drawingml/2006/main" noChangeAspect="1"/>
          </p:cNvPicPr>
          <p:nvPr/>
        </p:nvPicPr>
        <p:blipFill>
          <a:blip xmlns:r="http://schemas.openxmlformats.org/officeDocument/2006/relationships" xmlns:a="http://schemas.openxmlformats.org/drawingml/2006/main" r:embed="R46fedac5aec34e3d"/>
          <a:stretch xmlns:a="http://schemas.openxmlformats.org/drawingml/2006/main">
            <a:fillRect l="0" t="0" r="0" b="0"/>
          </a:stretch>
        </p:blipFill>
        <p:spPr>
          <a:xfrm xmlns:a="http://schemas.openxmlformats.org/drawingml/2006/main">
            <a:off x="4599186" y="497380"/>
            <a:ext cx="319132" cy="276264"/>
          </a:xfrm>
          <a:prstGeom xmlns:a="http://schemas.openxmlformats.org/drawingml/2006/main" prst="rect">
            <a:avLst/>
          </a:prstGeom>
        </p:spPr>
      </p:pic>
      <p:sp>
        <p:nvSpPr>
          <p:cNvPr id="24" name="文本框 23">
            <a:extLst xmlns:a="http://schemas.openxmlformats.org/drawingml/2006/main">
              <a:ext uri="{FF2B5EF4-FFF2-40B4-BE49-F238E27FC236}">
                <a16:creationId xmlns:a16="http://schemas.microsoft.com/office/drawing/2014/main" id="{33E53306-41FB-40B7-08B1-00C44916364A}"/>
              </a:ext>
            </a:extLst>
          </p:cNvPr>
          <p:cNvSpPr>
            <a:spLocks xmlns:a="http://schemas.openxmlformats.org/drawingml/2006/main" noGrp="1"/>
          </p:cNvSpPr>
          <p:nvPr/>
        </p:nvSpPr>
        <p:spPr>
          <a:xfrm xmlns:a="http://schemas.openxmlformats.org/drawingml/2006/main">
            <a:off x="3420578" y="478824"/>
            <a:ext cx="1322406"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400" b="1" i="0" u="none" cap="none" spc="0">
                <a:ln>
                  <a:noFill/>
                </a:ln>
                <a:solidFill>
                  <a:prstClr val="black"/>
                </a:solidFill>
                <a:latin typeface="黑体"/>
                <a:ea typeface="黑体"/>
                <a:cs typeface="黑体"/>
              </a:rPr>
              <a:t>技术问题回顾</a:t>
            </a:r>
          </a:p>
        </p:txBody>
      </p:sp>
      <p:sp>
        <p:nvSpPr>
          <p:cNvPr id="34" name="文本占位符 10">
            <a:extLst xmlns:a="http://schemas.openxmlformats.org/drawingml/2006/main">
              <a:ext uri="{FF2B5EF4-FFF2-40B4-BE49-F238E27FC236}">
                <a16:creationId xmlns:a16="http://schemas.microsoft.com/office/drawing/2014/main" id="{0BACBF76-A1B5-125A-FFDF-91573E7A7592}"/>
              </a:ext>
            </a:extLst>
          </p:cNvPr>
          <p:cNvSpPr>
            <a:spLocks xmlns:a="http://schemas.openxmlformats.org/drawingml/2006/main" noGrp="1"/>
          </p:cNvSpPr>
          <p:nvPr/>
        </p:nvSpPr>
        <p:spPr>
          <a:xfrm xmlns:a="http://schemas.openxmlformats.org/drawingml/2006/main">
            <a:off x="86459" y="592831"/>
            <a:ext cx="4822555" cy="14785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a:lstStyle xmlns:a="http://schemas.openxmlformats.org/drawingml/2006/main">
            <a:lvl1pPr marL="0" indent="0" algn="l" defTabSz="457200">
              <a:spcBef>
                <a:spcPct val="20000"/>
              </a:spcBef>
              <a:spcAft>
                <a:spcPct val="0"/>
              </a:spcAft>
              <a:buFont typeface="Arial"/>
              <a:buNone/>
              <a:defRPr sz="900" kern="1200">
                <a:solidFill>
                  <a:schemeClr val="tx2"/>
                </a:solidFill>
                <a:latin typeface="Times New Roman"/>
                <a:ea typeface="Times New Roman"/>
                <a:cs typeface="Times New Roman"/>
              </a:defRPr>
            </a:lvl1pPr>
            <a:lvl2pPr marL="742950" indent="-285750" algn="l" defTabSz="457200">
              <a:spcBef>
                <a:spcPct val="20000"/>
              </a:spcBef>
              <a:spcAft>
                <a:spcPct val="0"/>
              </a:spcAft>
              <a:buFont typeface="Arial"/>
              <a:buChar char="–"/>
              <a:defRPr sz="2800" kern="1200">
                <a:solidFill>
                  <a:schemeClr val="tx1"/>
                </a:solidFill>
                <a:latin typeface="Arial"/>
                <a:ea typeface="Arial"/>
                <a:cs typeface="Arial"/>
              </a:defRPr>
            </a:lvl2pPr>
            <a:lvl3pPr marL="1143000" indent="-228600" algn="l" defTabSz="457200">
              <a:spcBef>
                <a:spcPct val="20000"/>
              </a:spcBef>
              <a:spcAft>
                <a:spcPct val="0"/>
              </a:spcAft>
              <a:buFont typeface="Arial"/>
              <a:buChar char="•"/>
              <a:defRPr sz="2400" kern="1200">
                <a:solidFill>
                  <a:schemeClr val="tx1"/>
                </a:solidFill>
                <a:latin typeface="Arial"/>
                <a:ea typeface="Arial"/>
                <a:cs typeface="Arial"/>
              </a:defRPr>
            </a:lvl3pPr>
            <a:lvl4pPr marL="1600200" indent="-228600" algn="l" defTabSz="457200">
              <a:spcBef>
                <a:spcPct val="20000"/>
              </a:spcBef>
              <a:spcAft>
                <a:spcPct val="0"/>
              </a:spcAft>
              <a:buFont typeface="Arial"/>
              <a:buChar char="–"/>
              <a:defRPr sz="2000" kern="1200">
                <a:solidFill>
                  <a:schemeClr val="tx1"/>
                </a:solidFill>
                <a:latin typeface="Arial"/>
                <a:ea typeface="Arial"/>
                <a:cs typeface="Arial"/>
              </a:defRPr>
            </a:lvl4pPr>
            <a:lvl5pPr marL="2057400" indent="-228600" algn="l" defTabSz="457200">
              <a:spcBef>
                <a:spcPct val="20000"/>
              </a:spcBef>
              <a:spcAft>
                <a:spcPct val="0"/>
              </a:spcAft>
              <a:buFont typeface="Arial"/>
              <a:buChar char="»"/>
              <a:defRPr sz="2000" kern="1200">
                <a:solidFill>
                  <a:schemeClr val="tx1"/>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a:lstStyle>
          <a:p xmlns:a="http://schemas.openxmlformats.org/drawingml/2006/main">
            <a:pPr marL="0" marR="0" lvl="0" indent="0" algn="just" defTabSz="457200">
              <a:lnSpc>
                <a:spcPct val="100000"/>
              </a:lnSpc>
              <a:spcBef>
                <a:spcPct val="20000"/>
              </a:spcBef>
              <a:spcAft>
                <a:spcPct val="0"/>
              </a:spcAft>
              <a:buClrTx/>
              <a:buSzTx/>
              <a:buFont typeface="Arial"/>
              <a:buNone/>
            </a:pPr>
            <a:r>
              <a:rPr sz="900" b="1" i="0" u="none" cap="none" spc="0">
                <a:ln>
                  <a:noFill/>
                </a:ln>
                <a:solidFill>
                  <a:srgbClr val="002060"/>
                </a:solidFill>
                <a:latin typeface="黑体"/>
                <a:ea typeface="黑体"/>
                <a:cs typeface="黑体"/>
              </a:rPr>
              <a:t>1.小样本下</a:t>
            </a:r>
            <a:r>
              <a:rPr sz="900" b="1" i="0" u="none" cap="none" spc="0">
                <a:ln>
                  <a:noFill/>
                </a:ln>
                <a:solidFill>
                  <a:srgbClr val="002060"/>
                </a:solidFill>
                <a:latin typeface="黑体"/>
                <a:ea typeface="黑体"/>
                <a:cs typeface="黑体"/>
              </a:rPr>
              <a:t>风险</a:t>
            </a:r>
            <a:r>
              <a:rPr sz="900" b="1" i="0" u="none" cap="none" spc="0">
                <a:ln>
                  <a:noFill/>
                </a:ln>
                <a:solidFill>
                  <a:srgbClr val="002060"/>
                </a:solidFill>
                <a:latin typeface="黑体"/>
                <a:ea typeface="黑体"/>
                <a:cs typeface="黑体"/>
              </a:rPr>
              <a:t>场景覆盖不足问题</a:t>
            </a:r>
          </a:p>
          <a:p xmlns:a="http://schemas.openxmlformats.org/drawingml/2006/main">
            <a:pPr marL="0" marR="0" lvl="0" indent="0" algn="just" defTabSz="457200">
              <a:lnSpc>
                <a:spcPct val="100000"/>
              </a:lnSpc>
              <a:spcBef>
                <a:spcPct val="20000"/>
              </a:spcBef>
              <a:spcAft>
                <a:spcPct val="0"/>
              </a:spcAft>
              <a:buClrTx/>
              <a:buSzTx/>
              <a:buFont typeface="Arial"/>
              <a:buNone/>
            </a:pPr>
            <a:r>
              <a:rPr sz="800" b="0" i="0" u="none" cap="none" spc="0">
                <a:ln>
                  <a:noFill/>
                </a:ln>
                <a:solidFill>
                  <a:srgbClr val="222222"/>
                </a:solidFill>
                <a:latin typeface="黑体"/>
                <a:ea typeface="黑体"/>
                <a:cs typeface="黑体"/>
              </a:rPr>
              <a:t>赛题银行已有万级数据，但受隐私保护限制，</a:t>
            </a:r>
            <a:r>
              <a:rPr sz="800" b="1" i="1" u="none" cap="none" spc="0">
                <a:ln>
                  <a:noFill/>
                </a:ln>
                <a:solidFill>
                  <a:srgbClr val="222222"/>
                </a:solidFill>
                <a:latin typeface="黑体"/>
                <a:ea typeface="黑体"/>
                <a:cs typeface="黑体"/>
              </a:rPr>
              <a:t>本赛题仅包含74组共370张合成样本影像</a:t>
            </a:r>
            <a:r>
              <a:rPr sz="800" b="0" i="0" u="none" cap="none" spc="0">
                <a:ln>
                  <a:noFill/>
                </a:ln>
                <a:solidFill>
                  <a:srgbClr val="222222"/>
                </a:solidFill>
                <a:latin typeface="黑体"/>
                <a:ea typeface="黑体"/>
                <a:cs typeface="黑体"/>
              </a:rPr>
              <a:t>。难</a:t>
            </a:r>
            <a:r>
              <a:rPr sz="800" b="1" i="0" u="none" cap="none" spc="0">
                <a:ln>
                  <a:noFill/>
                </a:ln>
                <a:solidFill>
                  <a:srgbClr val="007F00"/>
                </a:solidFill>
                <a:latin typeface="黑体"/>
                <a:ea typeface="黑体"/>
                <a:cs typeface="黑体"/>
              </a:rPr>
              <a:t>以覆盖同客户复用、跨客户套用等多</a:t>
            </a:r>
            <a:r>
              <a:rPr sz="800" b="1" i="0" u="none" cap="none" spc="0">
                <a:ln>
                  <a:noFill/>
                </a:ln>
                <a:solidFill>
                  <a:srgbClr val="007F00"/>
                </a:solidFill>
                <a:latin typeface="黑体"/>
                <a:ea typeface="黑体"/>
                <a:cs typeface="黑体"/>
              </a:rPr>
              <a:t>样化信贷风险模式</a:t>
            </a:r>
            <a:r>
              <a:rPr sz="800" b="0" i="0" u="none" cap="none" spc="0">
                <a:ln>
                  <a:noFill/>
                </a:ln>
                <a:solidFill>
                  <a:srgbClr val="222222"/>
                </a:solidFill>
                <a:latin typeface="黑体"/>
                <a:ea typeface="黑体"/>
                <a:cs typeface="黑体"/>
              </a:rPr>
              <a:t>，且小样本下模型容易</a:t>
            </a:r>
            <a:r>
              <a:rPr sz="800" b="1" i="0" u="none" cap="none" spc="0">
                <a:ln>
                  <a:noFill/>
                </a:ln>
                <a:solidFill>
                  <a:srgbClr val="007F00"/>
                </a:solidFill>
                <a:latin typeface="黑体"/>
                <a:ea typeface="黑体"/>
                <a:cs typeface="黑体"/>
              </a:rPr>
              <a:t>过拟合</a:t>
            </a:r>
            <a:r>
              <a:rPr sz="800" b="1" i="0" u="none" cap="none" spc="0">
                <a:ln>
                  <a:noFill/>
                </a:ln>
                <a:solidFill>
                  <a:srgbClr val="0A31AA"/>
                </a:solidFill>
                <a:latin typeface="黑体"/>
                <a:ea typeface="黑体"/>
                <a:cs typeface="黑体"/>
              </a:rPr>
              <a:t>。</a:t>
            </a:r>
            <a:endParaRPr sz="800" b="0" i="0" u="none" kern="1200" cap="none" spc="0" baseline="0">
              <a:ln>
                <a:noFill/>
              </a:ln>
              <a:solidFill>
                <a:srgbClr val="222222"/>
              </a:solidFill>
              <a:latin typeface="黑体"/>
              <a:ea typeface="黑体"/>
              <a:cs typeface="黑体"/>
            </a:endParaRPr>
          </a:p>
          <a:p xmlns:a="http://schemas.openxmlformats.org/drawingml/2006/main">
            <a:pPr marL="0" marR="0" lvl="0" indent="0" algn="just" defTabSz="457200">
              <a:lnSpc>
                <a:spcPct val="100000"/>
              </a:lnSpc>
              <a:spcBef>
                <a:spcPct val="20000"/>
              </a:spcBef>
              <a:spcAft>
                <a:spcPct val="0"/>
              </a:spcAft>
              <a:buClrTx/>
              <a:buSzTx/>
              <a:buFont typeface="Arial"/>
              <a:buNone/>
            </a:pPr>
            <a:r>
              <a:rPr sz="900" b="1" i="0" u="none" cap="none" spc="0">
                <a:ln>
                  <a:noFill/>
                </a:ln>
                <a:solidFill>
                  <a:srgbClr val="002060"/>
                </a:solidFill>
                <a:latin typeface="黑体"/>
                <a:ea typeface="黑体"/>
                <a:cs typeface="黑体"/>
              </a:rPr>
              <a:t>2.多源异构影像语义理解与</a:t>
            </a:r>
            <a:r>
              <a:rPr sz="900" b="1" i="0" u="none" cap="none" spc="0">
                <a:ln>
                  <a:noFill/>
                </a:ln>
                <a:solidFill>
                  <a:srgbClr val="002060"/>
                </a:solidFill>
                <a:latin typeface="黑体"/>
                <a:ea typeface="黑体"/>
                <a:cs typeface="黑体"/>
              </a:rPr>
              <a:t>高效</a:t>
            </a:r>
            <a:r>
              <a:rPr sz="900" b="1" i="0" u="none" cap="none" spc="0">
                <a:ln>
                  <a:noFill/>
                </a:ln>
                <a:solidFill>
                  <a:srgbClr val="002060"/>
                </a:solidFill>
                <a:latin typeface="黑体"/>
                <a:ea typeface="黑体"/>
                <a:cs typeface="黑体"/>
              </a:rPr>
              <a:t>定位问题</a:t>
            </a:r>
            <a:endParaRPr sz="900" b="1" i="0" u="none" kern="1200" cap="none" spc="0" baseline="0">
              <a:ln>
                <a:noFill/>
              </a:ln>
              <a:solidFill>
                <a:srgbClr val="002060"/>
              </a:solidFill>
              <a:latin typeface="黑体"/>
              <a:ea typeface="黑体"/>
              <a:cs typeface="黑体"/>
            </a:endParaRPr>
          </a:p>
          <a:p xmlns:a="http://schemas.openxmlformats.org/drawingml/2006/main">
            <a:pPr marL="0" marR="0" lvl="0" indent="0" algn="just" defTabSz="457200">
              <a:lnSpc>
                <a:spcPct val="100000"/>
              </a:lnSpc>
              <a:spcBef>
                <a:spcPct val="20000"/>
              </a:spcBef>
              <a:spcAft>
                <a:spcPct val="0"/>
              </a:spcAft>
              <a:buClrTx/>
              <a:buSzTx/>
              <a:buFont typeface="Arial"/>
              <a:buNone/>
            </a:pPr>
            <a:r>
              <a:rPr sz="800" b="0" i="0" u="none" cap="none" spc="0">
                <a:ln>
                  <a:noFill/>
                </a:ln>
                <a:solidFill>
                  <a:srgbClr val="222222"/>
                </a:solidFill>
                <a:latin typeface="黑体"/>
                <a:ea typeface="黑体"/>
                <a:cs typeface="黑体"/>
              </a:rPr>
              <a:t>信贷业务涉及面签照、身份证、合同等多类影像，传统规则或低层视觉特征缺乏金融语义理解能力，</a:t>
            </a:r>
            <a:r>
              <a:rPr sz="800" b="1" i="0" u="none" cap="none" spc="0">
                <a:ln>
                  <a:noFill/>
                </a:ln>
                <a:solidFill>
                  <a:srgbClr val="007F00"/>
                </a:solidFill>
                <a:latin typeface="黑体"/>
                <a:ea typeface="黑体"/>
                <a:cs typeface="黑体"/>
              </a:rPr>
              <a:t>难以从海量资料中</a:t>
            </a:r>
            <a:r>
              <a:rPr sz="800" b="1" i="0" u="none" cap="none" spc="0">
                <a:ln>
                  <a:noFill/>
                </a:ln>
                <a:solidFill>
                  <a:srgbClr val="007F00"/>
                </a:solidFill>
                <a:latin typeface="黑体"/>
                <a:ea typeface="黑体"/>
                <a:cs typeface="黑体"/>
              </a:rPr>
              <a:t>准确定位目标面签照并高效生成相似候选</a:t>
            </a:r>
            <a:r>
              <a:rPr sz="800" b="0" i="0" u="none" cap="none" spc="0">
                <a:ln>
                  <a:noFill/>
                </a:ln>
                <a:solidFill>
                  <a:srgbClr val="222222"/>
                </a:solidFill>
                <a:latin typeface="黑体"/>
                <a:ea typeface="黑体"/>
                <a:cs typeface="黑体"/>
              </a:rPr>
              <a:t>，</a:t>
            </a:r>
            <a:r>
              <a:rPr sz="800" b="1" i="0" u="none" cap="none" spc="0">
                <a:ln>
                  <a:noFill/>
                </a:ln>
                <a:solidFill>
                  <a:prstClr val="black"/>
                </a:solidFill>
                <a:latin typeface="黑体"/>
                <a:ea typeface="黑体"/>
                <a:cs typeface="黑体"/>
              </a:rPr>
              <a:t>非目标影像容易</a:t>
            </a:r>
            <a:r>
              <a:rPr sz="800" b="1" i="0" u="none" cap="none" spc="0">
                <a:ln>
                  <a:noFill/>
                </a:ln>
                <a:solidFill>
                  <a:prstClr val="black"/>
                </a:solidFill>
                <a:latin typeface="黑体"/>
                <a:ea typeface="黑体"/>
                <a:cs typeface="黑体"/>
              </a:rPr>
              <a:t>干扰</a:t>
            </a:r>
            <a:r>
              <a:rPr sz="800" b="1" i="0" u="none" cap="none" spc="0">
                <a:ln>
                  <a:noFill/>
                </a:ln>
                <a:solidFill>
                  <a:prstClr val="black"/>
                </a:solidFill>
                <a:latin typeface="黑体"/>
                <a:ea typeface="黑体"/>
                <a:cs typeface="黑体"/>
              </a:rPr>
              <a:t>后续相似检测</a:t>
            </a:r>
            <a:r>
              <a:rPr sz="800" b="0" i="0" u="none" cap="none" spc="0">
                <a:ln>
                  <a:noFill/>
                </a:ln>
                <a:solidFill>
                  <a:srgbClr val="222222"/>
                </a:solidFill>
                <a:latin typeface="黑体"/>
                <a:ea typeface="黑体"/>
                <a:cs typeface="黑体"/>
              </a:rPr>
              <a:t>。</a:t>
            </a:r>
            <a:endParaRPr sz="900" b="1" i="0" u="none" kern="1200" cap="none" spc="0" baseline="0">
              <a:ln>
                <a:noFill/>
              </a:ln>
              <a:solidFill>
                <a:srgbClr val="0070C0"/>
              </a:solidFill>
              <a:latin typeface="黑体"/>
              <a:ea typeface="黑体"/>
              <a:cs typeface="黑体"/>
            </a:endParaRPr>
          </a:p>
          <a:p xmlns:a="http://schemas.openxmlformats.org/drawingml/2006/main">
            <a:pPr marL="0" marR="0" lvl="0" indent="0" algn="just" defTabSz="457200">
              <a:lnSpc>
                <a:spcPct val="100000"/>
              </a:lnSpc>
              <a:spcBef>
                <a:spcPct val="20000"/>
              </a:spcBef>
              <a:spcAft>
                <a:spcPct val="0"/>
              </a:spcAft>
              <a:buClrTx/>
              <a:buSzTx/>
              <a:buFont typeface="Arial"/>
              <a:buNone/>
            </a:pPr>
            <a:r>
              <a:rPr sz="900" b="1" i="0" u="none" cap="none" spc="0">
                <a:ln>
                  <a:noFill/>
                </a:ln>
                <a:solidFill>
                  <a:srgbClr val="002060"/>
                </a:solidFill>
                <a:latin typeface="黑体"/>
                <a:ea typeface="黑体"/>
                <a:cs typeface="黑体"/>
              </a:rPr>
              <a:t>3.</a:t>
            </a:r>
            <a:r>
              <a:rPr sz="900" b="1" i="0" u="none" cap="none" spc="0">
                <a:ln>
                  <a:noFill/>
                </a:ln>
                <a:solidFill>
                  <a:srgbClr val="002060"/>
                </a:solidFill>
                <a:latin typeface="黑体"/>
                <a:ea typeface="黑体"/>
                <a:cs typeface="黑体"/>
              </a:rPr>
              <a:t>复杂视觉相似关系与业务风险融合判断问题</a:t>
            </a:r>
            <a:endParaRPr sz="900" b="1" i="0" u="none" kern="1200" cap="none" spc="0" baseline="0">
              <a:ln>
                <a:noFill/>
              </a:ln>
              <a:solidFill>
                <a:srgbClr val="002060"/>
              </a:solidFill>
              <a:latin typeface="黑体"/>
              <a:ea typeface="黑体"/>
              <a:cs typeface="黑体"/>
            </a:endParaRPr>
          </a:p>
          <a:p xmlns:a="http://schemas.openxmlformats.org/drawingml/2006/main">
            <a:pPr marL="0" marR="0" lvl="0" indent="0" algn="just" defTabSz="457200">
              <a:lnSpc>
                <a:spcPct val="100000"/>
              </a:lnSpc>
              <a:spcBef>
                <a:spcPct val="20000"/>
              </a:spcBef>
              <a:spcAft>
                <a:spcPct val="0"/>
              </a:spcAft>
              <a:buClrTx/>
              <a:buSzTx/>
              <a:buFont typeface="Arial"/>
              <a:buNone/>
            </a:pPr>
            <a:r>
              <a:rPr sz="800" b="0" i="0" u="none" cap="none" spc="0">
                <a:ln>
                  <a:noFill/>
                </a:ln>
                <a:solidFill>
                  <a:srgbClr val="222222"/>
                </a:solidFill>
                <a:latin typeface="黑体"/>
                <a:ea typeface="黑体"/>
                <a:cs typeface="黑体"/>
              </a:rPr>
              <a:t>面签影像存在拍摄角度、光照环境、图像压缩、镜像翻拍等复杂扰动</a:t>
            </a:r>
            <a:r>
              <a:rPr sz="800" b="0" i="0" u="none" cap="none" spc="0">
                <a:ln>
                  <a:noFill/>
                </a:ln>
                <a:solidFill>
                  <a:srgbClr val="222222"/>
                </a:solidFill>
                <a:latin typeface="黑体"/>
                <a:ea typeface="黑体"/>
                <a:cs typeface="黑体"/>
              </a:rPr>
              <a:t>，</a:t>
            </a:r>
            <a:r>
              <a:rPr sz="800" b="1" i="0" u="none" cap="none" spc="0">
                <a:ln>
                  <a:noFill/>
                </a:ln>
                <a:solidFill>
                  <a:srgbClr val="222222"/>
                </a:solidFill>
                <a:latin typeface="黑体"/>
                <a:ea typeface="黑体"/>
                <a:cs typeface="黑体"/>
              </a:rPr>
              <a:t>传统模型依赖固定特征与单一相似度阈值</a:t>
            </a:r>
            <a:r>
              <a:rPr sz="800" b="0" i="0" u="none" cap="none" spc="0">
                <a:ln>
                  <a:noFill/>
                </a:ln>
                <a:solidFill>
                  <a:srgbClr val="222222"/>
                </a:solidFill>
                <a:latin typeface="黑体"/>
                <a:ea typeface="黑体"/>
                <a:cs typeface="黑体"/>
              </a:rPr>
              <a:t>，难以准确刻画深层视觉关联；同时，缺乏视觉证据、身份信息与业务规则融合分析能力，</a:t>
            </a:r>
            <a:r>
              <a:rPr sz="800" b="1" i="0" u="none" cap="none" spc="0">
                <a:ln>
                  <a:noFill/>
                </a:ln>
                <a:solidFill>
                  <a:srgbClr val="007F00"/>
                </a:solidFill>
                <a:latin typeface="黑体"/>
                <a:ea typeface="黑体"/>
                <a:cs typeface="黑体"/>
              </a:rPr>
              <a:t>难以进一步区分同客户多笔授信这类正常业务变化、同客户重复使用及跨客户套用等风险类型</a:t>
            </a:r>
            <a:r>
              <a:rPr sz="800" b="0" i="0" u="none" cap="none" spc="0">
                <a:ln>
                  <a:noFill/>
                </a:ln>
                <a:solidFill>
                  <a:srgbClr val="222222"/>
                </a:solidFill>
                <a:latin typeface="黑体"/>
                <a:ea typeface="黑体"/>
                <a:cs typeface="黑体"/>
              </a:rPr>
              <a:t>。</a:t>
            </a:r>
            <a:endParaRPr sz="800" b="1" i="0" u="none" kern="1200" cap="none" spc="0" baseline="0">
              <a:ln>
                <a:noFill/>
              </a:ln>
              <a:solidFill>
                <a:srgbClr val="0070C0"/>
              </a:solidFill>
              <a:latin typeface="黑体"/>
              <a:ea typeface="黑体"/>
              <a:cs typeface="黑体"/>
            </a:endParaRPr>
          </a:p>
        </p:txBody>
      </p:sp>
      <p:pic>
        <p:nvPicPr>
          <p:cNvPr id="283" name="图片 2"/>
          <p:cNvPicPr>
            <a:picLocks xmlns:a="http://schemas.openxmlformats.org/drawingml/2006/main" noChangeAspect="1"/>
          </p:cNvPicPr>
          <p:nvPr/>
        </p:nvPicPr>
        <p:blipFill>
          <a:blip xmlns:r="http://schemas.openxmlformats.org/officeDocument/2006/relationships" xmlns:a="http://schemas.openxmlformats.org/drawingml/2006/main" r:embed="R98d5feae648f4f36"/>
          <a:stretch xmlns:a="http://schemas.openxmlformats.org/drawingml/2006/main">
            <a:fillRect l="0" t="0" r="0" b="0"/>
          </a:stretch>
        </p:blipFill>
        <p:spPr>
          <a:xfrm xmlns:a="http://schemas.openxmlformats.org/drawingml/2006/main">
            <a:off x="5073027" y="533968"/>
            <a:ext cx="288940" cy="279415"/>
          </a:xfrm>
          <a:prstGeom xmlns:a="http://schemas.openxmlformats.org/drawingml/2006/main" prst="rect">
            <a:avLst/>
          </a:prstGeom>
        </p:spPr>
      </p:pic>
      <p:sp>
        <p:nvSpPr>
          <p:cNvPr id="15" name="文本框 14">
            <a:extLst xmlns:a="http://schemas.openxmlformats.org/drawingml/2006/main">
              <a:ext uri="{FF2B5EF4-FFF2-40B4-BE49-F238E27FC236}">
                <a16:creationId xmlns:a16="http://schemas.microsoft.com/office/drawing/2014/main" id="{38FB8287-562B-6B17-81B1-33E727218138}"/>
              </a:ext>
            </a:extLst>
          </p:cNvPr>
          <p:cNvSpPr>
            <a:spLocks xmlns:a="http://schemas.openxmlformats.org/drawingml/2006/main" noGrp="1"/>
          </p:cNvSpPr>
          <p:nvPr/>
        </p:nvSpPr>
        <p:spPr>
          <a:xfrm xmlns:a="http://schemas.openxmlformats.org/drawingml/2006/main">
            <a:off x="5361967" y="505606"/>
            <a:ext cx="3958884"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400" b="1" i="0" u="none" cap="none" spc="0">
                <a:ln>
                  <a:noFill/>
                </a:ln>
                <a:solidFill>
                  <a:prstClr val="black"/>
                </a:solidFill>
                <a:latin typeface="黑体"/>
                <a:ea typeface="黑体"/>
                <a:cs typeface="黑体"/>
              </a:rPr>
              <a:t>解决方案详述</a:t>
            </a:r>
          </a:p>
        </p:txBody>
      </p:sp>
      <p:sp>
        <p:nvSpPr>
          <p:cNvPr id="228" name="文本框 227">
            <a:extLst xmlns:a="http://schemas.openxmlformats.org/drawingml/2006/main">
              <a:ext uri="{FF2B5EF4-FFF2-40B4-BE49-F238E27FC236}">
                <a16:creationId xmlns:a16="http://schemas.microsoft.com/office/drawing/2014/main" id="{C61F8752-8506-8DAD-9DC4-52AF8A606FFA}"/>
              </a:ext>
            </a:extLst>
          </p:cNvPr>
          <p:cNvSpPr>
            <a:spLocks xmlns:a="http://schemas.openxmlformats.org/drawingml/2006/main" noGrp="1"/>
          </p:cNvSpPr>
          <p:nvPr/>
        </p:nvSpPr>
        <p:spPr>
          <a:xfrm xmlns:a="http://schemas.openxmlformats.org/drawingml/2006/main">
            <a:off x="5016915" y="3177319"/>
            <a:ext cx="6993949" cy="1402080"/>
          </a:xfrm>
          <a:prstGeom xmlns:a="http://schemas.openxmlformats.org/drawingml/2006/main" prst="rect">
            <a:avLst/>
          </a:prstGeom>
          <a:noFill xmlns:a="http://schemas.openxmlformats.org/drawingml/2006/main"/>
        </p:spPr>
        <p:txBody>
          <a:bodyPr xmlns:a="http://schemas.openxmlformats.org/drawingml/2006/main" wrap="square" lIns="45720" tIns="45720" rIns="45720" bIns="45720">
            <a:spAutoFit/>
          </a:bodyPr>
          <a:lstStyle xmlns:a="http://schemas.openxmlformats.org/drawingml/2006/main"/>
          <a:p xmlns:a="http://schemas.openxmlformats.org/drawingml/2006/main">
            <a:pPr marL="0" marR="0" lvl="0" indent="0" algn="just" defTabSz="914400">
              <a:lnSpc>
                <a:spcPct val="100000"/>
              </a:lnSpc>
              <a:spcBef>
                <a:spcPts val="0"/>
              </a:spcBef>
              <a:spcAft>
                <a:spcPts val="0"/>
              </a:spcAft>
              <a:buClrTx/>
              <a:buSzTx/>
              <a:buFontTx/>
              <a:buNone/>
            </a:pPr>
            <a:r>
              <a:rPr sz="1000" b="1" i="0" u="none" cap="none" spc="0">
                <a:ln>
                  <a:noFill/>
                </a:ln>
                <a:solidFill>
                  <a:prstClr val="white"/>
                </a:solidFill>
                <a:highlight>
                  <a:srgbClr val="008000"/>
                </a:highlight>
                <a:latin typeface="黑体"/>
                <a:ea typeface="黑体"/>
                <a:cs typeface="黑体"/>
              </a:rPr>
              <a:t>三、</a:t>
            </a:r>
            <a:r>
              <a:rPr sz="1000" b="1" i="0" u="none" cap="none" spc="0">
                <a:ln>
                  <a:noFill/>
                </a:ln>
                <a:solidFill>
                  <a:prstClr val="white"/>
                </a:solidFill>
                <a:highlight>
                  <a:srgbClr val="008000"/>
                </a:highlight>
                <a:latin typeface="黑体"/>
                <a:ea typeface="黑体"/>
                <a:cs typeface="黑体"/>
              </a:rPr>
              <a:t>两阶段判别层：</a:t>
            </a:r>
            <a:r>
              <a:rPr sz="1000" b="1" i="0" u="none" cap="none" spc="0">
                <a:ln>
                  <a:noFill/>
                </a:ln>
                <a:solidFill>
                  <a:srgbClr val="222222"/>
                </a:solidFill>
                <a:latin typeface="黑体"/>
                <a:ea typeface="黑体"/>
                <a:cs typeface="黑体"/>
              </a:rPr>
              <a:t>视觉相似判别与业务风险分类两阶段解耦，解决风险类型难解释问题</a:t>
            </a:r>
            <a:endParaRPr sz="1000" b="1" i="0" u="none" kern="1200" cap="none" spc="0" baseline="0">
              <a:ln>
                <a:noFill/>
              </a:ln>
              <a:solidFill>
                <a:srgbClr val="222222"/>
              </a:solidFill>
              <a:latin typeface="黑体"/>
              <a:ea typeface="黑体"/>
              <a:cs typeface="黑体"/>
            </a:endParaRPr>
          </a:p>
          <a:p xmlns:a="http://schemas.openxmlformats.org/drawingml/2006/main">
            <a:pPr marL="0" marR="0" lvl="0" indent="0" algn="just" defTabSz="914400">
              <a:lnSpc>
                <a:spcPct val="100000"/>
              </a:lnSpc>
              <a:spcBef>
                <a:spcPts val="0"/>
              </a:spcBef>
              <a:spcAft>
                <a:spcPts val="0"/>
              </a:spcAft>
              <a:buClrTx/>
              <a:buSzTx/>
              <a:buFontTx/>
              <a:buNone/>
            </a:pPr>
            <a:r>
              <a:rPr sz="950" b="0" i="0" u="none" cap="none" spc="0">
                <a:ln>
                  <a:noFill/>
                </a:ln>
                <a:solidFill>
                  <a:srgbClr val="222222"/>
                </a:solidFill>
                <a:latin typeface="黑体"/>
                <a:ea typeface="黑体"/>
                <a:cs typeface="黑体"/>
              </a:rPr>
              <a:t>    本项目设计视觉相似判别与业务风险分类解耦的两阶段架构：</a:t>
            </a:r>
            <a:endParaRPr sz="950" b="0" i="0" u="none" kern="1200" cap="none" spc="0" baseline="0">
              <a:ln>
                <a:noFill/>
              </a:ln>
              <a:solidFill>
                <a:srgbClr val="222222"/>
              </a:solidFill>
              <a:latin typeface="黑体"/>
              <a:ea typeface="黑体"/>
              <a:cs typeface="黑体"/>
            </a:endParaRPr>
          </a:p>
          <a:p xmlns:a="http://schemas.openxmlformats.org/drawingml/2006/main">
            <a:pPr marL="0" marR="0" lvl="0" indent="0" algn="just" defTabSz="914400">
              <a:lnSpc>
                <a:spcPct val="100000"/>
              </a:lnSpc>
              <a:spcBef>
                <a:spcPts val="0"/>
              </a:spcBef>
              <a:spcAft>
                <a:spcPts val="0"/>
              </a:spcAft>
              <a:buClrTx/>
              <a:buSzTx/>
              <a:buFontTx/>
              <a:buNone/>
            </a:pPr>
            <a:r>
              <a:rPr sz="950" b="1" i="0" u="none" cap="none" spc="0">
                <a:ln>
                  <a:noFill/>
                </a:ln>
                <a:solidFill>
                  <a:srgbClr val="007F00"/>
                </a:solidFill>
                <a:latin typeface="黑体"/>
                <a:ea typeface="黑体"/>
                <a:cs typeface="黑体"/>
              </a:rPr>
              <a:t>    Stage1</a:t>
            </a:r>
            <a:r>
              <a:rPr sz="950" b="1" i="0" u="none" cap="none" spc="0">
                <a:ln>
                  <a:noFill/>
                </a:ln>
                <a:solidFill>
                  <a:srgbClr val="007F00"/>
                </a:solidFill>
                <a:latin typeface="黑体"/>
                <a:ea typeface="黑体"/>
                <a:cs typeface="黑体"/>
              </a:rPr>
              <a:t>视觉相似判别：</a:t>
            </a:r>
            <a:r>
              <a:rPr sz="950" b="0" i="0" u="none" cap="none" spc="0">
                <a:ln>
                  <a:noFill/>
                </a:ln>
                <a:solidFill>
                  <a:srgbClr val="222222"/>
                </a:solidFill>
                <a:latin typeface="黑体"/>
                <a:ea typeface="黑体"/>
                <a:cs typeface="黑体"/>
              </a:rPr>
              <a:t>融合全局语义、局部结构、感知哈希等</a:t>
            </a:r>
            <a:r>
              <a:rPr sz="950" b="0" i="0" u="none" cap="none" spc="0">
                <a:ln>
                  <a:noFill/>
                </a:ln>
                <a:solidFill>
                  <a:srgbClr val="222222"/>
                </a:solidFill>
                <a:latin typeface="黑体"/>
                <a:ea typeface="黑体"/>
                <a:cs typeface="黑体"/>
              </a:rPr>
              <a:t>26</a:t>
            </a:r>
            <a:r>
              <a:rPr sz="950" b="0" i="0" u="none" cap="none" spc="0">
                <a:ln>
                  <a:noFill/>
                </a:ln>
                <a:solidFill>
                  <a:srgbClr val="222222"/>
                </a:solidFill>
                <a:latin typeface="黑体"/>
                <a:ea typeface="黑体"/>
                <a:cs typeface="黑体"/>
              </a:rPr>
              <a:t>维互补视觉证据，利用</a:t>
            </a:r>
            <a:r>
              <a:rPr sz="950" b="1" i="0" u="none" cap="none" spc="0">
                <a:ln>
                  <a:noFill/>
                </a:ln>
                <a:solidFill>
                  <a:srgbClr val="222222"/>
                </a:solidFill>
                <a:latin typeface="黑体"/>
                <a:ea typeface="黑体"/>
                <a:cs typeface="黑体"/>
              </a:rPr>
              <a:t>梯度提升模型</a:t>
            </a:r>
            <a:r>
              <a:rPr sz="950" b="1" i="0" u="none" cap="none" spc="0">
                <a:ln>
                  <a:noFill/>
                </a:ln>
                <a:solidFill>
                  <a:srgbClr val="222222"/>
                </a:solidFill>
                <a:latin typeface="黑体"/>
                <a:ea typeface="黑体"/>
                <a:cs typeface="黑体"/>
              </a:rPr>
              <a:t>HistGradientBoosting</a:t>
            </a:r>
            <a:r>
              <a:rPr sz="950" b="0" i="0" u="none" cap="none" spc="0">
                <a:ln>
                  <a:noFill/>
                </a:ln>
                <a:solidFill>
                  <a:srgbClr val="222222"/>
                </a:solidFill>
                <a:latin typeface="黑体"/>
                <a:ea typeface="黑体"/>
                <a:cs typeface="黑体"/>
              </a:rPr>
              <a:t>学习多维特征的非线性关系，并结合</a:t>
            </a:r>
            <a:r>
              <a:rPr sz="950" b="1" i="0" u="none" cap="none" spc="0">
                <a:ln>
                  <a:noFill/>
                </a:ln>
                <a:solidFill>
                  <a:srgbClr val="222222"/>
                </a:solidFill>
                <a:latin typeface="黑体"/>
                <a:ea typeface="黑体"/>
                <a:cs typeface="黑体"/>
              </a:rPr>
              <a:t>五组强视觉规则</a:t>
            </a:r>
            <a:r>
              <a:rPr sz="950" b="0" i="0" u="none" cap="none" spc="0">
                <a:ln>
                  <a:noFill/>
                </a:ln>
                <a:solidFill>
                  <a:srgbClr val="222222"/>
                </a:solidFill>
                <a:latin typeface="黑体"/>
                <a:ea typeface="黑体"/>
                <a:cs typeface="黑体"/>
              </a:rPr>
              <a:t>进行或门判别，形成“</a:t>
            </a:r>
            <a:r>
              <a:rPr sz="950" b="0" i="0" u="none" cap="none" spc="0">
                <a:ln>
                  <a:noFill/>
                </a:ln>
                <a:solidFill>
                  <a:srgbClr val="222222"/>
                </a:solidFill>
                <a:latin typeface="黑体"/>
                <a:ea typeface="黑体"/>
                <a:cs typeface="黑体"/>
              </a:rPr>
              <a:t>概率模型主判+强证据规则托底</a:t>
            </a:r>
            <a:r>
              <a:rPr sz="950" b="0" i="0" u="none" cap="none" spc="0">
                <a:ln>
                  <a:noFill/>
                </a:ln>
                <a:solidFill>
                  <a:srgbClr val="222222"/>
                </a:solidFill>
                <a:latin typeface="黑体"/>
                <a:ea typeface="黑体"/>
                <a:cs typeface="黑体"/>
              </a:rPr>
              <a:t>”</a:t>
            </a:r>
            <a:r>
              <a:rPr sz="950" b="0" i="0" u="none" cap="none" spc="0">
                <a:ln>
                  <a:noFill/>
                </a:ln>
                <a:solidFill>
                  <a:srgbClr val="222222"/>
                </a:solidFill>
                <a:latin typeface="黑体"/>
                <a:ea typeface="黑体"/>
                <a:cs typeface="黑体"/>
              </a:rPr>
              <a:t>混合</a:t>
            </a:r>
            <a:r>
              <a:rPr sz="950" b="0" i="0" u="none" cap="none" spc="0">
                <a:ln>
                  <a:noFill/>
                </a:ln>
                <a:solidFill>
                  <a:srgbClr val="222222"/>
                </a:solidFill>
                <a:latin typeface="黑体"/>
                <a:ea typeface="黑体"/>
                <a:cs typeface="黑体"/>
              </a:rPr>
              <a:t>判定机制，独立判断面签照是否存在视觉近重复关系。</a:t>
            </a:r>
            <a:r>
              <a:rPr sz="950" b="0" i="0" u="none" cap="none" spc="0">
                <a:ln>
                  <a:noFill/>
                </a:ln>
                <a:solidFill>
                  <a:prstClr val="black"/>
                </a:solidFill>
                <a:latin typeface="黑体"/>
                <a:ea typeface="黑体"/>
                <a:cs typeface="黑体"/>
              </a:rPr>
              <a:t> </a:t>
            </a:r>
            <a:r>
              <a:rPr sz="950" b="0" i="0" u="none" cap="none" spc="0">
                <a:ln>
                  <a:noFill/>
                </a:ln>
                <a:solidFill>
                  <a:prstClr val="black"/>
                </a:solidFill>
                <a:latin typeface="黑体"/>
                <a:ea typeface="黑体"/>
                <a:cs typeface="黑体"/>
              </a:rPr>
              <a:t>引入多维视觉证据后，</a:t>
            </a:r>
            <a:r>
              <a:rPr sz="950" b="0" i="0" u="none" cap="none" spc="0">
                <a:ln>
                  <a:noFill/>
                </a:ln>
                <a:solidFill>
                  <a:srgbClr val="008000"/>
                </a:solidFill>
                <a:latin typeface="黑体"/>
                <a:ea typeface="黑体"/>
                <a:cs typeface="黑体"/>
              </a:rPr>
              <a:t>stage1组级实测F1达96.7%，相较单一语义相似度提升8.2个百分点。</a:t>
            </a:r>
            <a:endParaRPr sz="950" b="1" i="0" u="none" kern="1200" cap="none" spc="0" baseline="0">
              <a:ln>
                <a:noFill/>
              </a:ln>
              <a:solidFill>
                <a:srgbClr val="222222"/>
              </a:solidFill>
              <a:latin typeface="黑体"/>
              <a:ea typeface="黑体"/>
              <a:cs typeface="黑体"/>
            </a:endParaRPr>
          </a:p>
          <a:p xmlns:a="http://schemas.openxmlformats.org/drawingml/2006/main">
            <a:pPr marL="0" marR="0" lvl="0" indent="0" algn="just" defTabSz="914400">
              <a:lnSpc>
                <a:spcPct val="100000"/>
              </a:lnSpc>
              <a:spcBef>
                <a:spcPts val="0"/>
              </a:spcBef>
              <a:spcAft>
                <a:spcPts val="0"/>
              </a:spcAft>
              <a:buClrTx/>
              <a:buSzTx/>
              <a:buFontTx/>
              <a:buNone/>
            </a:pPr>
            <a:r>
              <a:rPr sz="950" b="1" i="0" u="none" cap="none" spc="0">
                <a:ln>
                  <a:noFill/>
                </a:ln>
                <a:solidFill>
                  <a:srgbClr val="007F00"/>
                </a:solidFill>
                <a:latin typeface="黑体"/>
                <a:ea typeface="黑体"/>
                <a:cs typeface="黑体"/>
              </a:rPr>
              <a:t>    Stage2</a:t>
            </a:r>
            <a:r>
              <a:rPr sz="950" b="1" i="0" u="none" cap="none" spc="0">
                <a:ln>
                  <a:noFill/>
                </a:ln>
                <a:solidFill>
                  <a:srgbClr val="007F00"/>
                </a:solidFill>
                <a:latin typeface="黑体"/>
                <a:ea typeface="黑体"/>
                <a:cs typeface="黑体"/>
              </a:rPr>
              <a:t>业务风险分类：</a:t>
            </a:r>
            <a:r>
              <a:rPr sz="950" b="0" i="0" u="none" cap="none" spc="0">
                <a:ln>
                  <a:noFill/>
                </a:ln>
                <a:solidFill>
                  <a:srgbClr val="222222"/>
                </a:solidFill>
                <a:latin typeface="黑体"/>
                <a:ea typeface="黑体"/>
                <a:cs typeface="黑体"/>
              </a:rPr>
              <a:t>在相似结果基础上，进一步引入姓名、身份证、客户身份及业务关系等结构化信息，通过</a:t>
            </a:r>
            <a:r>
              <a:rPr sz="950" b="1" i="0" u="none" cap="none" spc="0">
                <a:ln>
                  <a:noFill/>
                </a:ln>
                <a:solidFill>
                  <a:srgbClr val="222222"/>
                </a:solidFill>
                <a:latin typeface="黑体"/>
                <a:ea typeface="黑体"/>
                <a:cs typeface="黑体"/>
              </a:rPr>
              <a:t>身份规则树与逻辑回归模型</a:t>
            </a:r>
            <a:r>
              <a:rPr sz="950" b="0" i="0" u="none" cap="none" spc="0">
                <a:ln>
                  <a:noFill/>
                </a:ln>
                <a:solidFill>
                  <a:srgbClr val="222222"/>
                </a:solidFill>
                <a:latin typeface="黑体"/>
                <a:ea typeface="黑体"/>
                <a:cs typeface="黑体"/>
              </a:rPr>
              <a:t>，将风险候选细分为：“跨客户套用”、“同客户重复使用”与“</a:t>
            </a:r>
            <a:r>
              <a:rPr sz="950" b="0" i="0" u="none" cap="none" spc="0">
                <a:ln>
                  <a:noFill/>
                </a:ln>
                <a:solidFill>
                  <a:srgbClr val="222222"/>
                </a:solidFill>
                <a:latin typeface="黑体"/>
                <a:ea typeface="黑体"/>
                <a:cs typeface="黑体"/>
              </a:rPr>
              <a:t>同客户多笔授信</a:t>
            </a:r>
            <a:r>
              <a:rPr sz="950" b="0" i="0" u="none" cap="none" spc="0">
                <a:ln>
                  <a:noFill/>
                </a:ln>
                <a:solidFill>
                  <a:srgbClr val="222222"/>
                </a:solidFill>
                <a:latin typeface="黑体"/>
                <a:ea typeface="黑体"/>
                <a:cs typeface="黑体"/>
              </a:rPr>
              <a:t>”，并通过验证集网格搜索优化业务阈值。</a:t>
            </a:r>
            <a:r>
              <a:rPr sz="950" b="0" i="0" u="none" cap="none" spc="0">
                <a:ln>
                  <a:noFill/>
                </a:ln>
                <a:solidFill>
                  <a:srgbClr val="222222"/>
                </a:solidFill>
                <a:latin typeface="黑体"/>
                <a:ea typeface="黑体"/>
                <a:cs typeface="黑体"/>
              </a:rPr>
              <a:t>最终实现从“判断像不像”到“解释为什么”的两阶段风险识别。</a:t>
            </a:r>
            <a:endParaRPr sz="950" b="0" i="0" u="none" kern="1200" cap="none" spc="0" baseline="0">
              <a:ln>
                <a:noFill/>
              </a:ln>
              <a:solidFill>
                <a:srgbClr val="222222"/>
              </a:solidFill>
              <a:latin typeface="黑体"/>
              <a:ea typeface="黑体"/>
              <a:cs typeface="黑体"/>
            </a:endParaRPr>
          </a:p>
        </p:txBody>
      </p:sp>
      <p:pic>
        <p:nvPicPr>
          <p:cNvPr id="286" name="图片 231"/>
          <p:cNvPicPr>
            <a:picLocks xmlns:a="http://schemas.openxmlformats.org/drawingml/2006/main" noChangeAspect="1"/>
          </p:cNvPicPr>
          <p:nvPr/>
        </p:nvPicPr>
        <p:blipFill>
          <a:blip xmlns:r="http://schemas.openxmlformats.org/officeDocument/2006/relationships" xmlns:a="http://schemas.openxmlformats.org/drawingml/2006/main" r:embed="R69c67da7a7194038"/>
          <a:stretch xmlns:a="http://schemas.openxmlformats.org/drawingml/2006/main">
            <a:fillRect l="0" t="0" r="0" b="0"/>
          </a:stretch>
        </p:blipFill>
        <p:spPr>
          <a:xfrm xmlns:a="http://schemas.openxmlformats.org/drawingml/2006/main">
            <a:off x="5056802" y="750193"/>
            <a:ext cx="3930566" cy="2458937"/>
          </a:xfrm>
          <a:prstGeom xmlns:a="http://schemas.openxmlformats.org/drawingml/2006/main" prst="rect">
            <a:avLst/>
          </a:prstGeom>
        </p:spPr>
      </p:pic>
      <p:sp>
        <p:nvSpPr>
          <p:cNvPr id="234" name="文本框 233">
            <a:extLst xmlns:a="http://schemas.openxmlformats.org/drawingml/2006/main">
              <a:ext uri="{FF2B5EF4-FFF2-40B4-BE49-F238E27FC236}">
                <a16:creationId xmlns:a16="http://schemas.microsoft.com/office/drawing/2014/main" id="{59DB9064-86FF-E682-9D71-1CC0D1B57ACC}"/>
              </a:ext>
            </a:extLst>
          </p:cNvPr>
          <p:cNvSpPr>
            <a:spLocks xmlns:a="http://schemas.openxmlformats.org/drawingml/2006/main" noGrp="1"/>
          </p:cNvSpPr>
          <p:nvPr/>
        </p:nvSpPr>
        <p:spPr>
          <a:xfrm xmlns:a="http://schemas.openxmlformats.org/drawingml/2006/main">
            <a:off x="5038847" y="4406686"/>
            <a:ext cx="3850373" cy="830997"/>
          </a:xfrm>
          <a:prstGeom xmlns:a="http://schemas.openxmlformats.org/drawingml/2006/main" prst="rect">
            <a:avLst/>
          </a:prstGeom>
          <a:noFill xmlns:a="http://schemas.openxmlformats.org/drawingml/2006/main"/>
        </p:spPr>
        <p:txBody>
          <a:bodyPr xmlns:a="http://schemas.openxmlformats.org/drawingml/2006/main" wrap="square" lIns="45720" tIns="45720" rIns="45720" bIns="45720">
            <a:spAutoFit/>
          </a:bodyPr>
          <a:lstStyle xmlns:a="http://schemas.openxmlformats.org/drawingml/2006/main"/>
          <a:p xmlns:a="http://schemas.openxmlformats.org/drawingml/2006/main">
            <a:pPr marL="0" marR="0" lvl="0" indent="0" algn="just" defTabSz="914400">
              <a:lnSpc>
                <a:spcPct val="100000"/>
              </a:lnSpc>
              <a:spcBef>
                <a:spcPts val="0"/>
              </a:spcBef>
              <a:spcAft>
                <a:spcPts val="0"/>
              </a:spcAft>
              <a:buClrTx/>
              <a:buSzTx/>
              <a:buFontTx/>
              <a:buNone/>
            </a:pPr>
            <a:r>
              <a:rPr sz="1000" b="1" i="0" u="none" cap="none" spc="0">
                <a:ln>
                  <a:noFill/>
                </a:ln>
                <a:solidFill>
                  <a:prstClr val="white"/>
                </a:solidFill>
                <a:highlight>
                  <a:srgbClr val="008000"/>
                </a:highlight>
                <a:latin typeface="黑体"/>
                <a:ea typeface="黑体"/>
                <a:cs typeface="黑体"/>
              </a:rPr>
              <a:t>四、审核闭环</a:t>
            </a:r>
            <a:r>
              <a:rPr sz="1000" b="1" i="0" u="none" cap="none" spc="0">
                <a:ln>
                  <a:noFill/>
                </a:ln>
                <a:solidFill>
                  <a:prstClr val="white"/>
                </a:solidFill>
                <a:highlight>
                  <a:srgbClr val="008000"/>
                </a:highlight>
                <a:latin typeface="黑体"/>
                <a:ea typeface="黑体"/>
                <a:cs typeface="黑体"/>
              </a:rPr>
              <a:t>层：</a:t>
            </a:r>
            <a:r>
              <a:rPr sz="1000" b="1" i="0" u="none" cap="none" spc="0">
                <a:ln>
                  <a:noFill/>
                </a:ln>
                <a:solidFill>
                  <a:srgbClr val="222222"/>
                </a:solidFill>
                <a:latin typeface="黑体"/>
                <a:ea typeface="黑体"/>
                <a:cs typeface="黑体"/>
              </a:rPr>
              <a:t>人工复核与结果回写，解决模型持续优化问题</a:t>
            </a:r>
          </a:p>
          <a:p xmlns:a="http://schemas.openxmlformats.org/drawingml/2006/main">
            <a:pPr marL="0" marR="0" lvl="0" indent="0" algn="just" defTabSz="914400">
              <a:lnSpc>
                <a:spcPct val="100000"/>
              </a:lnSpc>
              <a:spcBef>
                <a:spcPts val="0"/>
              </a:spcBef>
              <a:spcAft>
                <a:spcPts val="0"/>
              </a:spcAft>
              <a:buClrTx/>
              <a:buSzTx/>
              <a:buFontTx/>
              <a:buNone/>
            </a:pPr>
            <a:r>
              <a:rPr sz="950" b="0" i="0" u="none" cap="none" spc="0">
                <a:ln>
                  <a:noFill/>
                </a:ln>
                <a:solidFill>
                  <a:srgbClr val="222222"/>
                </a:solidFill>
                <a:latin typeface="黑体"/>
                <a:ea typeface="黑体"/>
                <a:cs typeface="黑体"/>
              </a:rPr>
              <a:t>    针对模型相似候选不能直接等同于欺诈结论的业务合规问题，本项目构建</a:t>
            </a:r>
            <a:r>
              <a:rPr sz="950" b="0" i="0" u="none" cap="none" spc="0">
                <a:ln>
                  <a:noFill/>
                </a:ln>
                <a:solidFill>
                  <a:srgbClr val="222222"/>
                </a:solidFill>
                <a:latin typeface="黑体"/>
                <a:ea typeface="黑体"/>
                <a:cs typeface="黑体"/>
              </a:rPr>
              <a:t>“</a:t>
            </a:r>
            <a:r>
              <a:rPr sz="950" b="0" i="0" u="none" cap="none" spc="0">
                <a:ln>
                  <a:noFill/>
                </a:ln>
                <a:solidFill>
                  <a:srgbClr val="007F00"/>
                </a:solidFill>
                <a:latin typeface="黑体"/>
                <a:ea typeface="黑体"/>
                <a:cs typeface="黑体"/>
              </a:rPr>
              <a:t>自动化筛查→风险候选生成→人工复核→反馈迭代</a:t>
            </a:r>
            <a:r>
              <a:rPr sz="950" b="0" i="0" u="none" cap="none" spc="0">
                <a:ln>
                  <a:noFill/>
                </a:ln>
                <a:solidFill>
                  <a:srgbClr val="222222"/>
                </a:solidFill>
                <a:latin typeface="黑体"/>
                <a:ea typeface="黑体"/>
                <a:cs typeface="黑体"/>
              </a:rPr>
              <a:t>”</a:t>
            </a:r>
            <a:r>
              <a:rPr sz="950" b="0" i="0" u="none" cap="none" spc="0">
                <a:ln>
                  <a:noFill/>
                </a:ln>
                <a:solidFill>
                  <a:srgbClr val="222222"/>
                </a:solidFill>
                <a:latin typeface="黑体"/>
                <a:ea typeface="黑体"/>
                <a:cs typeface="黑体"/>
              </a:rPr>
              <a:t>的人机协同机制。</a:t>
            </a:r>
            <a:r>
              <a:rPr sz="950" b="1" i="0" u="none" cap="none" spc="0">
                <a:ln>
                  <a:noFill/>
                </a:ln>
                <a:solidFill>
                  <a:srgbClr val="222222"/>
                </a:solidFill>
                <a:latin typeface="黑体"/>
                <a:ea typeface="黑体"/>
                <a:cs typeface="黑体"/>
              </a:rPr>
              <a:t>将人工资源由全量筛查转向风险候选复核</a:t>
            </a:r>
            <a:r>
              <a:rPr sz="950" b="0" i="0" u="none" cap="none" spc="0">
                <a:ln>
                  <a:noFill/>
                </a:ln>
                <a:solidFill>
                  <a:srgbClr val="222222"/>
                </a:solidFill>
                <a:latin typeface="黑体"/>
                <a:ea typeface="黑体"/>
                <a:cs typeface="黑体"/>
              </a:rPr>
              <a:t>，并利用复核结果进行样本补充、标签校准和模型优化，形成持续迭代的风险审核闭环。</a:t>
            </a:r>
          </a:p>
        </p:txBody>
      </p:sp>
      <p:pic>
        <p:nvPicPr>
          <p:cNvPr id="288" name="图片 235"/>
          <p:cNvPicPr>
            <a:picLocks xmlns:a="http://schemas.openxmlformats.org/drawingml/2006/main" noChangeAspect="1"/>
          </p:cNvPicPr>
          <p:nvPr/>
        </p:nvPicPr>
        <p:blipFill>
          <a:blip xmlns:r="http://schemas.openxmlformats.org/officeDocument/2006/relationships" xmlns:a="http://schemas.openxmlformats.org/drawingml/2006/main" r:embed="R8906128a8c5141e4"/>
          <a:srcRect xmlns:a="http://schemas.openxmlformats.org/drawingml/2006/main" l="0" t="13971" r="0" b="13971"/>
          <a:stretch xmlns:a="http://schemas.openxmlformats.org/drawingml/2006/main">
            <a:fillRect l="0" t="0" r="0" b="0"/>
          </a:stretch>
        </p:blipFill>
        <p:spPr>
          <a:xfrm xmlns:a="http://schemas.openxmlformats.org/drawingml/2006/main">
            <a:off x="9156700" y="4296538"/>
            <a:ext cx="2782808" cy="1036033"/>
          </a:xfrm>
          <a:prstGeom xmlns:a="http://schemas.openxmlformats.org/drawingml/2006/main" prst="rect">
            <a:avLst/>
          </a:prstGeom>
        </p:spPr>
      </p:pic>
      <p:pic>
        <p:nvPicPr>
          <p:cNvPr id="289" name="图片 237"/>
          <p:cNvPicPr>
            <a:picLocks xmlns:a="http://schemas.openxmlformats.org/drawingml/2006/main" noChangeAspect="1"/>
          </p:cNvPicPr>
          <p:nvPr/>
        </p:nvPicPr>
        <p:blipFill>
          <a:blip xmlns:r="http://schemas.openxmlformats.org/officeDocument/2006/relationships" xmlns:a="http://schemas.openxmlformats.org/drawingml/2006/main" r:embed="Rd11f031d2cbe4493"/>
          <a:stretch xmlns:a="http://schemas.openxmlformats.org/drawingml/2006/main">
            <a:fillRect l="0" t="0" r="0" b="0"/>
          </a:stretch>
        </p:blipFill>
        <p:spPr>
          <a:xfrm xmlns:a="http://schemas.openxmlformats.org/drawingml/2006/main">
            <a:off x="117183" y="2134538"/>
            <a:ext cx="365417" cy="313214"/>
          </a:xfrm>
          <a:prstGeom xmlns:a="http://schemas.openxmlformats.org/drawingml/2006/main" prst="rect">
            <a:avLst/>
          </a:prstGeom>
        </p:spPr>
      </p:pic>
      <p:sp>
        <p:nvSpPr>
          <p:cNvPr id="240" name="文本框 239">
            <a:extLst xmlns:a="http://schemas.openxmlformats.org/drawingml/2006/main">
              <a:ext uri="{FF2B5EF4-FFF2-40B4-BE49-F238E27FC236}">
                <a16:creationId xmlns:a16="http://schemas.microsoft.com/office/drawing/2014/main" id="{730B99C0-55D5-F1EB-3A58-29F05D23BCCA}"/>
              </a:ext>
            </a:extLst>
          </p:cNvPr>
          <p:cNvSpPr>
            <a:spLocks xmlns:a="http://schemas.openxmlformats.org/drawingml/2006/main" noGrp="1"/>
          </p:cNvSpPr>
          <p:nvPr/>
        </p:nvSpPr>
        <p:spPr>
          <a:xfrm xmlns:a="http://schemas.openxmlformats.org/drawingml/2006/main">
            <a:off x="387052" y="2118379"/>
            <a:ext cx="1322406"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400" b="1" i="0" u="none" cap="none" spc="0">
                <a:ln>
                  <a:noFill/>
                </a:ln>
                <a:solidFill>
                  <a:prstClr val="black"/>
                </a:solidFill>
                <a:latin typeface="黑体"/>
                <a:ea typeface="黑体"/>
                <a:cs typeface="黑体"/>
              </a:rPr>
              <a:t>核心解题思路</a:t>
            </a:r>
          </a:p>
        </p:txBody>
      </p:sp>
      <p:sp>
        <p:nvSpPr>
          <p:cNvPr id="241" name="文本框 240">
            <a:extLst xmlns:a="http://schemas.openxmlformats.org/drawingml/2006/main">
              <a:ext uri="{FF2B5EF4-FFF2-40B4-BE49-F238E27FC236}">
                <a16:creationId xmlns:a16="http://schemas.microsoft.com/office/drawing/2014/main" id="{05852E95-F77E-6984-4ABB-49D3C8D00BD8}"/>
              </a:ext>
            </a:extLst>
          </p:cNvPr>
          <p:cNvSpPr>
            <a:spLocks xmlns:a="http://schemas.openxmlformats.org/drawingml/2006/main" noGrp="1"/>
          </p:cNvSpPr>
          <p:nvPr/>
        </p:nvSpPr>
        <p:spPr>
          <a:xfrm xmlns:a="http://schemas.openxmlformats.org/drawingml/2006/main">
            <a:off x="2424081" y="2151903"/>
            <a:ext cx="2552216" cy="7540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700" b="0" i="0" u="none" cap="none" spc="0">
                <a:ln>
                  <a:noFill/>
                </a:ln>
                <a:solidFill>
                  <a:prstClr val="black"/>
                </a:solidFill>
                <a:latin typeface="黑体"/>
                <a:ea typeface="黑体"/>
                <a:cs typeface="黑体"/>
              </a:rPr>
              <a:t>Q1</a:t>
            </a:r>
            <a:r>
              <a:rPr sz="700" b="0" i="0" u="none" cap="none" spc="0">
                <a:ln>
                  <a:noFill/>
                </a:ln>
                <a:solidFill>
                  <a:prstClr val="black"/>
                </a:solidFill>
                <a:latin typeface="黑体"/>
                <a:ea typeface="黑体"/>
                <a:cs typeface="黑体"/>
              </a:rPr>
              <a:t>：</a:t>
            </a:r>
            <a:r>
              <a:rPr sz="800" b="1" i="0" u="none" cap="none" spc="0">
                <a:ln>
                  <a:noFill/>
                </a:ln>
                <a:solidFill>
                  <a:srgbClr val="002060"/>
                </a:solidFill>
                <a:latin typeface="黑体"/>
                <a:ea typeface="黑体"/>
                <a:cs typeface="黑体"/>
              </a:rPr>
              <a:t>小样本下风险场景覆盖不足问题</a:t>
            </a:r>
            <a:endParaRPr sz="700" b="0" i="0" u="none" kern="1200" cap="none" spc="0" baseline="0">
              <a:ln>
                <a:noFill/>
              </a:ln>
              <a:solidFill>
                <a:prstClr val="black"/>
              </a:solidFill>
              <a:latin typeface="黑体"/>
              <a:ea typeface="黑体"/>
              <a:cs typeface="黑体"/>
            </a:endParaRPr>
          </a:p>
          <a:p xmlns:a="http://schemas.openxmlformats.org/drawingml/2006/main">
            <a:pPr marL="0" marR="0" lvl="0" indent="0" algn="just" defTabSz="914400">
              <a:lnSpc>
                <a:spcPct val="100000"/>
              </a:lnSpc>
              <a:spcBef>
                <a:spcPts val="0"/>
              </a:spcBef>
              <a:spcAft>
                <a:spcPts val="0"/>
              </a:spcAft>
              <a:buClrTx/>
              <a:buSzTx/>
              <a:buFontTx/>
              <a:buNone/>
            </a:pPr>
            <a:r>
              <a:rPr sz="700" b="0" i="0" u="none" cap="none" spc="0">
                <a:ln>
                  <a:noFill/>
                </a:ln>
                <a:solidFill>
                  <a:prstClr val="black"/>
                </a:solidFill>
                <a:latin typeface="黑体"/>
                <a:ea typeface="黑体"/>
                <a:cs typeface="黑体"/>
              </a:rPr>
              <a:t>    本项目通过数据构建解决该问题。在保持原赛题数据分布的基础上，将样本库扩展至3254组业务、16270张影像以</a:t>
            </a:r>
            <a:r>
              <a:rPr sz="700" b="1" i="0" u="none" cap="none" spc="0">
                <a:ln>
                  <a:noFill/>
                </a:ln>
                <a:solidFill>
                  <a:prstClr val="black"/>
                </a:solidFill>
                <a:latin typeface="黑体"/>
                <a:ea typeface="黑体"/>
                <a:cs typeface="黑体"/>
              </a:rPr>
              <a:t>贴合银行真实数据规模</a:t>
            </a:r>
            <a:r>
              <a:rPr sz="700" b="0" i="0" u="none" cap="none" spc="0">
                <a:ln>
                  <a:noFill/>
                </a:ln>
                <a:solidFill>
                  <a:prstClr val="black"/>
                </a:solidFill>
                <a:latin typeface="黑体"/>
                <a:ea typeface="黑体"/>
                <a:cs typeface="黑体"/>
              </a:rPr>
              <a:t>；同时围绕真实信贷业务构造同客户多笔授信与重复使用两类关键场景，增强模型对多样化风险模式的覆盖能力。</a:t>
            </a:r>
            <a:endParaRPr sz="700" b="0" i="0" u="none" kern="1200" cap="none" spc="0" baseline="0">
              <a:ln>
                <a:noFill/>
              </a:ln>
              <a:solidFill>
                <a:prstClr val="black"/>
              </a:solidFill>
              <a:latin typeface="黑体"/>
              <a:ea typeface="黑体"/>
              <a:cs typeface="黑体"/>
            </a:endParaRPr>
          </a:p>
        </p:txBody>
      </p:sp>
      <p:pic>
        <p:nvPicPr>
          <p:cNvPr id="292" name="图片 244"/>
          <p:cNvPicPr>
            <a:picLocks xmlns:a="http://schemas.openxmlformats.org/drawingml/2006/main" noChangeAspect="1"/>
          </p:cNvPicPr>
          <p:nvPr/>
        </p:nvPicPr>
        <p:blipFill>
          <a:blip xmlns:r="http://schemas.openxmlformats.org/officeDocument/2006/relationships" xmlns:a="http://schemas.openxmlformats.org/drawingml/2006/main" r:embed="R9509e019e3294f76"/>
          <a:stretch xmlns:a="http://schemas.openxmlformats.org/drawingml/2006/main">
            <a:fillRect l="0" t="0" r="0" b="0"/>
          </a:stretch>
        </p:blipFill>
        <p:spPr>
          <a:xfrm xmlns:a="http://schemas.openxmlformats.org/drawingml/2006/main">
            <a:off x="2479215" y="2861019"/>
            <a:ext cx="2360795" cy="1313197"/>
          </a:xfrm>
          <a:prstGeom xmlns:a="http://schemas.openxmlformats.org/drawingml/2006/main" prst="rect">
            <a:avLst/>
          </a:prstGeom>
        </p:spPr>
      </p:pic>
      <p:sp>
        <p:nvSpPr>
          <p:cNvPr id="247" name="文本框 246">
            <a:extLst xmlns:a="http://schemas.openxmlformats.org/drawingml/2006/main">
              <a:ext uri="{FF2B5EF4-FFF2-40B4-BE49-F238E27FC236}">
                <a16:creationId xmlns:a16="http://schemas.microsoft.com/office/drawing/2014/main" id="{F5BFAC85-9F35-D81A-CBFC-A70FF1D2BFFE}"/>
              </a:ext>
            </a:extLst>
          </p:cNvPr>
          <p:cNvSpPr>
            <a:spLocks xmlns:a="http://schemas.openxmlformats.org/drawingml/2006/main" noGrp="1"/>
          </p:cNvSpPr>
          <p:nvPr/>
        </p:nvSpPr>
        <p:spPr>
          <a:xfrm xmlns:a="http://schemas.openxmlformats.org/drawingml/2006/main">
            <a:off x="109340" y="2428873"/>
            <a:ext cx="2298023" cy="184665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just" defTabSz="914400">
              <a:lnSpc>
                <a:spcPct val="100000"/>
              </a:lnSpc>
              <a:spcBef>
                <a:spcPts val="0"/>
              </a:spcBef>
              <a:spcAft>
                <a:spcPts val="0"/>
              </a:spcAft>
              <a:buClrTx/>
              <a:buSzTx/>
              <a:buFontTx/>
              <a:buNone/>
            </a:pPr>
            <a:r>
              <a:rPr sz="700" b="0" i="0" u="none" cap="none" spc="0">
                <a:ln>
                  <a:noFill/>
                </a:ln>
                <a:solidFill>
                  <a:prstClr val="black"/>
                </a:solidFill>
                <a:latin typeface="黑体"/>
                <a:ea typeface="黑体"/>
                <a:cs typeface="黑体"/>
              </a:rPr>
              <a:t>Q2</a:t>
            </a:r>
            <a:r>
              <a:rPr sz="700" b="0" i="0" u="none" cap="none" spc="0">
                <a:ln>
                  <a:noFill/>
                </a:ln>
                <a:solidFill>
                  <a:prstClr val="black"/>
                </a:solidFill>
                <a:latin typeface="黑体"/>
                <a:ea typeface="黑体"/>
                <a:cs typeface="黑体"/>
              </a:rPr>
              <a:t>：</a:t>
            </a:r>
            <a:r>
              <a:rPr sz="800" b="1" i="0" u="none" cap="none" spc="0">
                <a:ln>
                  <a:noFill/>
                </a:ln>
                <a:solidFill>
                  <a:srgbClr val="002060"/>
                </a:solidFill>
                <a:latin typeface="黑体"/>
                <a:ea typeface="黑体"/>
                <a:cs typeface="黑体"/>
              </a:rPr>
              <a:t>多源异构影像语义理解与高效定位问题</a:t>
            </a:r>
            <a:endParaRPr sz="700" b="0" i="0" u="none" kern="1200" cap="none" spc="0" baseline="0">
              <a:ln>
                <a:noFill/>
              </a:ln>
              <a:solidFill>
                <a:prstClr val="black"/>
              </a:solidFill>
              <a:latin typeface="黑体"/>
              <a:ea typeface="黑体"/>
              <a:cs typeface="黑体"/>
            </a:endParaRPr>
          </a:p>
          <a:p xmlns:a="http://schemas.openxmlformats.org/drawingml/2006/main">
            <a:pPr marL="0" marR="0" lvl="0" indent="0" algn="just" defTabSz="914400">
              <a:lnSpc>
                <a:spcPct val="100000"/>
              </a:lnSpc>
              <a:spcBef>
                <a:spcPts val="0"/>
              </a:spcBef>
              <a:spcAft>
                <a:spcPts val="0"/>
              </a:spcAft>
              <a:buClrTx/>
              <a:buSzTx/>
              <a:buFontTx/>
              <a:buNone/>
            </a:pPr>
            <a:r>
              <a:rPr sz="700" b="0" i="0" u="none" cap="none" spc="0">
                <a:ln>
                  <a:noFill/>
                </a:ln>
                <a:solidFill>
                  <a:prstClr val="black"/>
                </a:solidFill>
                <a:latin typeface="黑体"/>
                <a:ea typeface="黑体"/>
                <a:cs typeface="黑体"/>
              </a:rPr>
              <a:t>    本项目以</a:t>
            </a:r>
            <a:r>
              <a:rPr sz="700" b="1" i="0" u="none" cap="none" spc="0">
                <a:ln>
                  <a:noFill/>
                </a:ln>
                <a:solidFill>
                  <a:prstClr val="black"/>
                </a:solidFill>
                <a:latin typeface="黑体"/>
                <a:ea typeface="黑体"/>
                <a:cs typeface="黑体"/>
              </a:rPr>
              <a:t>“先筛选、后比较”</a:t>
            </a:r>
            <a:r>
              <a:rPr sz="700" b="0" i="0" u="none" cap="none" spc="0">
                <a:ln>
                  <a:noFill/>
                </a:ln>
                <a:solidFill>
                  <a:prstClr val="black"/>
                </a:solidFill>
                <a:latin typeface="黑体"/>
                <a:ea typeface="黑体"/>
                <a:cs typeface="黑体"/>
              </a:rPr>
              <a:t>的思想，通过引入</a:t>
            </a:r>
            <a:r>
              <a:rPr sz="700" b="0" i="0" u="none" cap="none" spc="0">
                <a:ln>
                  <a:noFill/>
                </a:ln>
                <a:solidFill>
                  <a:prstClr val="black"/>
                </a:solidFill>
                <a:latin typeface="黑体"/>
                <a:ea typeface="黑体"/>
                <a:cs typeface="黑体"/>
              </a:rPr>
              <a:t>SigLIP2</a:t>
            </a:r>
            <a:r>
              <a:rPr sz="700" b="0" i="0" u="none" cap="none" spc="0">
                <a:ln>
                  <a:noFill/>
                </a:ln>
                <a:solidFill>
                  <a:prstClr val="black"/>
                </a:solidFill>
                <a:latin typeface="黑体"/>
                <a:ea typeface="黑体"/>
                <a:cs typeface="黑体"/>
              </a:rPr>
              <a:t>和</a:t>
            </a:r>
            <a:r>
              <a:rPr sz="700" b="0" i="0" u="none" cap="none" spc="0">
                <a:ln>
                  <a:noFill/>
                </a:ln>
                <a:solidFill>
                  <a:prstClr val="black"/>
                </a:solidFill>
                <a:latin typeface="黑体"/>
                <a:ea typeface="黑体"/>
                <a:cs typeface="黑体"/>
              </a:rPr>
              <a:t>FAISS</a:t>
            </a:r>
            <a:r>
              <a:rPr sz="700" b="0" i="0" u="none" cap="none" spc="0">
                <a:ln>
                  <a:noFill/>
                </a:ln>
                <a:solidFill>
                  <a:prstClr val="black"/>
                </a:solidFill>
                <a:latin typeface="黑体"/>
                <a:ea typeface="黑体"/>
                <a:cs typeface="黑体"/>
              </a:rPr>
              <a:t>解决该问题。</a:t>
            </a:r>
            <a:r>
              <a:rPr sz="700" b="1" i="0" u="none" cap="none" spc="0">
                <a:ln>
                  <a:noFill/>
                </a:ln>
                <a:solidFill>
                  <a:srgbClr val="007F00"/>
                </a:solidFill>
                <a:latin typeface="黑体"/>
                <a:ea typeface="黑体"/>
                <a:cs typeface="黑体"/>
              </a:rPr>
              <a:t>SigLIP2</a:t>
            </a:r>
            <a:r>
              <a:rPr sz="700" b="1" i="0" u="none" cap="none" spc="0">
                <a:ln>
                  <a:noFill/>
                </a:ln>
                <a:solidFill>
                  <a:srgbClr val="007F00"/>
                </a:solidFill>
                <a:latin typeface="黑体"/>
                <a:ea typeface="黑体"/>
                <a:cs typeface="黑体"/>
              </a:rPr>
              <a:t>模型</a:t>
            </a:r>
            <a:r>
              <a:rPr sz="700" b="0" i="0" u="none" cap="none" spc="0">
                <a:ln>
                  <a:noFill/>
                </a:ln>
                <a:solidFill>
                  <a:prstClr val="black"/>
                </a:solidFill>
                <a:latin typeface="黑体"/>
                <a:ea typeface="黑体"/>
                <a:cs typeface="黑体"/>
              </a:rPr>
              <a:t>能够提取全量影像的深层语义向量，实现影像内容的精准理解，从而实现面签照的精准定位；</a:t>
            </a:r>
            <a:r>
              <a:rPr sz="700" b="1" i="0" u="none" cap="none" spc="0">
                <a:ln>
                  <a:noFill/>
                </a:ln>
                <a:solidFill>
                  <a:srgbClr val="007F00"/>
                </a:solidFill>
                <a:latin typeface="黑体"/>
                <a:ea typeface="黑体"/>
                <a:cs typeface="黑体"/>
              </a:rPr>
              <a:t>FAISS</a:t>
            </a:r>
            <a:r>
              <a:rPr sz="700" b="1" i="0" u="none" cap="none" spc="0">
                <a:ln>
                  <a:noFill/>
                </a:ln>
                <a:solidFill>
                  <a:srgbClr val="007F00"/>
                </a:solidFill>
                <a:latin typeface="黑体"/>
                <a:ea typeface="黑体"/>
                <a:cs typeface="黑体"/>
              </a:rPr>
              <a:t> </a:t>
            </a:r>
            <a:r>
              <a:rPr sz="700" b="1" i="0" u="none" cap="none" spc="0">
                <a:ln>
                  <a:noFill/>
                </a:ln>
                <a:solidFill>
                  <a:srgbClr val="007F00"/>
                </a:solidFill>
                <a:latin typeface="黑体"/>
                <a:ea typeface="黑体"/>
                <a:cs typeface="黑体"/>
              </a:rPr>
              <a:t>Top-K</a:t>
            </a:r>
            <a:r>
              <a:rPr sz="700" b="1" i="0" u="none" cap="none" spc="0">
                <a:ln>
                  <a:noFill/>
                </a:ln>
                <a:solidFill>
                  <a:srgbClr val="007F00"/>
                </a:solidFill>
                <a:latin typeface="黑体"/>
                <a:ea typeface="黑体"/>
                <a:cs typeface="黑体"/>
              </a:rPr>
              <a:t>近邻检索</a:t>
            </a:r>
            <a:r>
              <a:rPr sz="700" b="0" i="0" u="none" cap="none" spc="0">
                <a:ln>
                  <a:noFill/>
                </a:ln>
                <a:solidFill>
                  <a:prstClr val="black"/>
                </a:solidFill>
                <a:latin typeface="黑体"/>
                <a:ea typeface="黑体"/>
                <a:cs typeface="黑体"/>
              </a:rPr>
              <a:t>能够大幅缩减候选空间，提升相似检测效率，在保证语义理解精度的同时实现海量影像的高效检索。</a:t>
            </a:r>
            <a:endParaRPr sz="700" b="0" i="0" u="none" kern="1200" cap="none" spc="0" baseline="0">
              <a:ln>
                <a:noFill/>
              </a:ln>
              <a:solidFill>
                <a:prstClr val="black"/>
              </a:solidFill>
              <a:latin typeface="黑体"/>
              <a:ea typeface="黑体"/>
              <a:cs typeface="黑体"/>
            </a:endParaRPr>
          </a:p>
          <a:p xmlns:a="http://schemas.openxmlformats.org/drawingml/2006/main">
            <a:pPr marL="0" marR="0" lvl="0" indent="0" algn="just" defTabSz="914400">
              <a:lnSpc>
                <a:spcPct val="100000"/>
              </a:lnSpc>
              <a:spcBef>
                <a:spcPts val="0"/>
              </a:spcBef>
              <a:spcAft>
                <a:spcPts val="0"/>
              </a:spcAft>
              <a:buClrTx/>
              <a:buSzTx/>
              <a:buFontTx/>
              <a:buNone/>
            </a:pPr>
            <a:r>
              <a:rPr sz="700" b="0" i="0" u="none" cap="none" spc="0">
                <a:ln>
                  <a:noFill/>
                </a:ln>
                <a:solidFill>
                  <a:prstClr val="black"/>
                </a:solidFill>
                <a:latin typeface="黑体"/>
                <a:ea typeface="黑体"/>
                <a:cs typeface="黑体"/>
              </a:rPr>
              <a:t>Q3</a:t>
            </a:r>
            <a:r>
              <a:rPr sz="700" b="0" i="0" u="none" cap="none" spc="0">
                <a:ln>
                  <a:noFill/>
                </a:ln>
                <a:solidFill>
                  <a:prstClr val="black"/>
                </a:solidFill>
                <a:latin typeface="黑体"/>
                <a:ea typeface="黑体"/>
                <a:cs typeface="黑体"/>
              </a:rPr>
              <a:t>：</a:t>
            </a:r>
            <a:r>
              <a:rPr sz="800" b="1" i="0" u="none" cap="none" spc="0">
                <a:ln>
                  <a:noFill/>
                </a:ln>
                <a:solidFill>
                  <a:srgbClr val="002060"/>
                </a:solidFill>
                <a:latin typeface="黑体"/>
                <a:ea typeface="黑体"/>
                <a:cs typeface="黑体"/>
              </a:rPr>
              <a:t>复杂视觉相似关系与业务风险融合判断问题</a:t>
            </a:r>
            <a:endParaRPr sz="700" b="0" i="0" u="none" kern="1200" cap="none" spc="0" baseline="0">
              <a:ln>
                <a:noFill/>
              </a:ln>
              <a:solidFill>
                <a:prstClr val="black"/>
              </a:solidFill>
              <a:latin typeface="黑体"/>
              <a:ea typeface="黑体"/>
              <a:cs typeface="黑体"/>
            </a:endParaRPr>
          </a:p>
          <a:p xmlns:a="http://schemas.openxmlformats.org/drawingml/2006/main">
            <a:pPr marL="0" marR="0" lvl="0" indent="0" algn="just" defTabSz="914400">
              <a:lnSpc>
                <a:spcPct val="100000"/>
              </a:lnSpc>
              <a:spcBef>
                <a:spcPts val="0"/>
              </a:spcBef>
              <a:spcAft>
                <a:spcPts val="0"/>
              </a:spcAft>
              <a:buClrTx/>
              <a:buSzTx/>
              <a:buFontTx/>
              <a:buNone/>
            </a:pPr>
            <a:r>
              <a:rPr sz="700" b="0" i="0" u="none" cap="none" spc="0">
                <a:ln>
                  <a:noFill/>
                </a:ln>
                <a:solidFill>
                  <a:prstClr val="black"/>
                </a:solidFill>
                <a:latin typeface="黑体"/>
                <a:ea typeface="黑体"/>
                <a:cs typeface="黑体"/>
              </a:rPr>
              <a:t>    本项目通过将</a:t>
            </a:r>
            <a:r>
              <a:rPr sz="700" b="0" i="0" u="none" cap="none" spc="0">
                <a:ln>
                  <a:noFill/>
                </a:ln>
                <a:solidFill>
                  <a:prstClr val="black"/>
                </a:solidFill>
                <a:latin typeface="黑体"/>
                <a:ea typeface="黑体"/>
                <a:cs typeface="黑体"/>
              </a:rPr>
              <a:t>26</a:t>
            </a:r>
            <a:r>
              <a:rPr sz="700" b="0" i="0" u="none" cap="none" spc="0">
                <a:ln>
                  <a:noFill/>
                </a:ln>
                <a:solidFill>
                  <a:prstClr val="black"/>
                </a:solidFill>
                <a:latin typeface="黑体"/>
                <a:ea typeface="黑体"/>
                <a:cs typeface="黑体"/>
              </a:rPr>
              <a:t>维互补视觉证据嵌入“视觉相似</a:t>
            </a:r>
            <a:r>
              <a:rPr sz="700" b="0" i="0" u="none" cap="none" spc="0">
                <a:ln>
                  <a:noFill/>
                </a:ln>
                <a:solidFill>
                  <a:prstClr val="black"/>
                </a:solidFill>
                <a:latin typeface="黑体"/>
                <a:ea typeface="黑体"/>
                <a:cs typeface="黑体"/>
              </a:rPr>
              <a:t>-</a:t>
            </a:r>
            <a:r>
              <a:rPr sz="700" b="0" i="0" u="none" cap="none" spc="0">
                <a:ln>
                  <a:noFill/>
                </a:ln>
                <a:solidFill>
                  <a:prstClr val="black"/>
                </a:solidFill>
                <a:latin typeface="黑体"/>
                <a:ea typeface="黑体"/>
                <a:cs typeface="黑体"/>
              </a:rPr>
              <a:t>业务分类”的两阶段判定机制解决该问题。</a:t>
            </a:r>
            <a:r>
              <a:rPr sz="700" b="1" i="0" u="none" cap="none" spc="0">
                <a:ln>
                  <a:noFill/>
                </a:ln>
                <a:solidFill>
                  <a:srgbClr val="007F00"/>
                </a:solidFill>
                <a:latin typeface="黑体"/>
                <a:ea typeface="黑体"/>
                <a:cs typeface="黑体"/>
              </a:rPr>
              <a:t>多维度视觉证据</a:t>
            </a:r>
            <a:r>
              <a:rPr sz="700" b="0" i="0" u="none" cap="none" spc="0">
                <a:ln>
                  <a:noFill/>
                </a:ln>
                <a:solidFill>
                  <a:prstClr val="black"/>
                </a:solidFill>
                <a:latin typeface="黑体"/>
                <a:ea typeface="黑体"/>
                <a:cs typeface="黑体"/>
              </a:rPr>
              <a:t>经</a:t>
            </a:r>
            <a:r>
              <a:rPr sz="700" b="0" i="0" u="none" cap="none" spc="0">
                <a:ln>
                  <a:noFill/>
                </a:ln>
                <a:solidFill>
                  <a:prstClr val="black"/>
                </a:solidFill>
                <a:latin typeface="黑体"/>
                <a:ea typeface="黑体"/>
                <a:cs typeface="黑体"/>
              </a:rPr>
              <a:t>HistGradientBoosting</a:t>
            </a:r>
            <a:r>
              <a:rPr sz="700" b="0" i="0" u="none" cap="none" spc="0">
                <a:ln>
                  <a:noFill/>
                </a:ln>
                <a:solidFill>
                  <a:prstClr val="black"/>
                </a:solidFill>
                <a:latin typeface="黑体"/>
                <a:ea typeface="黑体"/>
                <a:cs typeface="黑体"/>
              </a:rPr>
              <a:t>学习非线性组合关系，能够捕获多样化的面签视觉相似模式。五组强视觉规则并联增强能够在主模型判别失效时发现</a:t>
            </a:r>
            <a:r>
              <a:rPr sz="700" b="1" i="0" u="none" cap="none" spc="0">
                <a:ln>
                  <a:noFill/>
                </a:ln>
                <a:solidFill>
                  <a:prstClr val="black"/>
                </a:solidFill>
                <a:latin typeface="黑体"/>
                <a:ea typeface="黑体"/>
                <a:cs typeface="黑体"/>
              </a:rPr>
              <a:t>边界样本</a:t>
            </a:r>
            <a:r>
              <a:rPr sz="700" b="0" i="0" u="none" cap="none" spc="0">
                <a:ln>
                  <a:noFill/>
                </a:ln>
                <a:solidFill>
                  <a:prstClr val="black"/>
                </a:solidFill>
                <a:latin typeface="黑体"/>
                <a:ea typeface="黑体"/>
                <a:cs typeface="黑体"/>
              </a:rPr>
              <a:t>，守住风控防线。</a:t>
            </a:r>
            <a:r>
              <a:rPr sz="700" b="0" i="0" u="none" cap="none" spc="0">
                <a:ln>
                  <a:noFill/>
                </a:ln>
                <a:solidFill>
                  <a:prstClr val="black"/>
                </a:solidFill>
                <a:latin typeface="黑体"/>
                <a:ea typeface="黑体"/>
                <a:cs typeface="黑体"/>
              </a:rPr>
              <a:t>STAGE2</a:t>
            </a:r>
            <a:r>
              <a:rPr sz="700" b="0" i="0" u="none" cap="none" spc="0">
                <a:ln>
                  <a:noFill/>
                </a:ln>
                <a:solidFill>
                  <a:prstClr val="black"/>
                </a:solidFill>
                <a:latin typeface="黑体"/>
                <a:ea typeface="黑体"/>
                <a:cs typeface="黑体"/>
              </a:rPr>
              <a:t>在视觉相似判定基础上引入身份等信息进行业务风险分类，实现从视觉相似到业务风险的</a:t>
            </a:r>
            <a:r>
              <a:rPr sz="700" b="1" i="0" u="none" cap="none" spc="0">
                <a:ln>
                  <a:noFill/>
                </a:ln>
                <a:solidFill>
                  <a:srgbClr val="007F00"/>
                </a:solidFill>
                <a:latin typeface="黑体"/>
                <a:ea typeface="黑体"/>
                <a:cs typeface="黑体"/>
              </a:rPr>
              <a:t>可解释映射</a:t>
            </a:r>
            <a:r>
              <a:rPr sz="700" b="0" i="0" u="none" cap="none" spc="0">
                <a:ln>
                  <a:noFill/>
                </a:ln>
                <a:solidFill>
                  <a:prstClr val="black"/>
                </a:solidFill>
                <a:latin typeface="黑体"/>
                <a:ea typeface="黑体"/>
                <a:cs typeface="黑体"/>
              </a:rPr>
              <a:t>。</a:t>
            </a:r>
          </a:p>
        </p:txBody>
      </p:sp>
    </p:spTree>
    <p:extLst>
      <p:ext uri="{BB962C8B-B14F-4D97-AF65-F5344CB8AC3E}">
        <p14:creationId xmlns:p14="http://schemas.microsoft.com/office/powerpoint/2010/main" val="2070771405"/>
      </p:ext>
    </p:extLst>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2026-08-28T05:22:52.5540000Z</dcterms:created>
  <dcterms:modified xsi:type="dcterms:W3CDTF">2026-08-28T05:22:52.5550000Z</dcterms:modified>
</coreProperties>
</file>